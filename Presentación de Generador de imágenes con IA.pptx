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5143500" type="screen16x9"/>
  <p:notesSz cx="6858000" cy="9144000"/>
  <p:embeddedFontLst>
    <p:embeddedFont>
      <p:font typeface="Roboto" charset="0"/>
      <p:regular r:id="rId33"/>
      <p:bold r:id="rId34"/>
      <p:italic r:id="rId35"/>
      <p:boldItalic r:id="rId36"/>
    </p:embeddedFont>
    <p:embeddedFont>
      <p:font typeface="Roboto Mono"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97" d="100"/>
          <a:sy n="97" d="100"/>
        </p:scale>
        <p:origin x="-384" y="-90"/>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3a6e0a4c9c_0_9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3a6e0a4c9c_0_9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3a6e0a4c9c_0_3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3a6e0a4c9c_0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3a6e0a4c9c_0_13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3a6e0a4c9c_0_1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3a6e0a4c9c_0_1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3a6e0a4c9c_0_1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3a6e0a4c9c_0_1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3a6e0a4c9c_0_13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3a6e0a4c9c_0_1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3a6e0a4c9c_0_1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3aa2214ec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33aa2214ec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3a6e0a4c9c_0_13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3a6e0a4c9c_0_13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3a6e0a4c9c_0_1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3a6e0a4c9c_0_13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3a6e0a4c9c_0_13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3a6e0a4c9c_0_1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3a6e0a4c9c_0_1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3a6e0a4c9c_0_1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3a6e0a4c9c_0_13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33a6e0a4c9c_0_1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3a6e0a4c9c_0_1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3a6e0a4c9c_0_1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621065c8bc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621065c8bc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3a6e0a4c9c_0_13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3a6e0a4c9c_0_13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621065c8bc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621065c8bc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621065c8bc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621065c8bc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621065c8bc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621065c8bc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621065c8bc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621065c8bc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621065c8b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621065c8b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3a6e0a4c9c_0_1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3a6e0a4c9c_0_1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3a6e0a4c9c_0_13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3a6e0a4c9c_0_1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3a6e0a4c9c_0_14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3a6e0a4c9c_0_14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3a6e0a4c9c_0_14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3a6e0a4c9c_0_1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3a6e0a4c9c_0_14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3a6e0a4c9c_0_1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3a6e0a4c9c_0_14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3a6e0a4c9c_0_1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621065c8bc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3621065c8bc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3a6e0a4c9c_0_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3a6e0a4c9c_0_1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3a6e0a4c9c_0_14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3a6e0a4c9c_0_1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0"/>
              </a:spcBef>
              <a:spcAft>
                <a:spcPts val="0"/>
              </a:spcAft>
              <a:buClr>
                <a:schemeClr val="lt1"/>
              </a:buClr>
              <a:buSzPts val="1200"/>
              <a:buChar char="○"/>
              <a:defRPr sz="1200">
                <a:solidFill>
                  <a:schemeClr val="lt1"/>
                </a:solidFill>
              </a:defRPr>
            </a:lvl2pPr>
            <a:lvl3pPr marL="1371600" lvl="2" indent="-304800">
              <a:spcBef>
                <a:spcPts val="0"/>
              </a:spcBef>
              <a:spcAft>
                <a:spcPts val="0"/>
              </a:spcAft>
              <a:buClr>
                <a:schemeClr val="lt1"/>
              </a:buClr>
              <a:buSzPts val="1200"/>
              <a:buChar char="■"/>
              <a:defRPr sz="1200">
                <a:solidFill>
                  <a:schemeClr val="lt1"/>
                </a:solidFill>
              </a:defRPr>
            </a:lvl3pPr>
            <a:lvl4pPr marL="1828800" lvl="3" indent="-304800">
              <a:spcBef>
                <a:spcPts val="0"/>
              </a:spcBef>
              <a:spcAft>
                <a:spcPts val="0"/>
              </a:spcAft>
              <a:buClr>
                <a:schemeClr val="lt1"/>
              </a:buClr>
              <a:buSzPts val="1200"/>
              <a:buChar char="●"/>
              <a:defRPr sz="1200">
                <a:solidFill>
                  <a:schemeClr val="lt1"/>
                </a:solidFill>
              </a:defRPr>
            </a:lvl4pPr>
            <a:lvl5pPr marL="2286000" lvl="4" indent="-304800">
              <a:spcBef>
                <a:spcPts val="0"/>
              </a:spcBef>
              <a:spcAft>
                <a:spcPts val="0"/>
              </a:spcAft>
              <a:buClr>
                <a:schemeClr val="lt1"/>
              </a:buClr>
              <a:buSzPts val="1200"/>
              <a:buChar char="○"/>
              <a:defRPr sz="1200">
                <a:solidFill>
                  <a:schemeClr val="lt1"/>
                </a:solidFill>
              </a:defRPr>
            </a:lvl5pPr>
            <a:lvl6pPr marL="2743200" lvl="5" indent="-304800">
              <a:spcBef>
                <a:spcPts val="0"/>
              </a:spcBef>
              <a:spcAft>
                <a:spcPts val="0"/>
              </a:spcAft>
              <a:buClr>
                <a:schemeClr val="lt1"/>
              </a:buClr>
              <a:buSzPts val="1200"/>
              <a:buChar char="■"/>
              <a:defRPr sz="1200">
                <a:solidFill>
                  <a:schemeClr val="lt1"/>
                </a:solidFill>
              </a:defRPr>
            </a:lvl6pPr>
            <a:lvl7pPr marL="3200400" lvl="6" indent="-304800">
              <a:spcBef>
                <a:spcPts val="0"/>
              </a:spcBef>
              <a:spcAft>
                <a:spcPts val="0"/>
              </a:spcAft>
              <a:buClr>
                <a:schemeClr val="lt1"/>
              </a:buClr>
              <a:buSzPts val="1200"/>
              <a:buChar char="●"/>
              <a:defRPr sz="1200">
                <a:solidFill>
                  <a:schemeClr val="lt1"/>
                </a:solidFill>
              </a:defRPr>
            </a:lvl7pPr>
            <a:lvl8pPr marL="3657600" lvl="7" indent="-304800">
              <a:spcBef>
                <a:spcPts val="0"/>
              </a:spcBef>
              <a:spcAft>
                <a:spcPts val="0"/>
              </a:spcAft>
              <a:buClr>
                <a:schemeClr val="lt1"/>
              </a:buClr>
              <a:buSzPts val="1200"/>
              <a:buChar char="○"/>
              <a:defRPr sz="1200">
                <a:solidFill>
                  <a:schemeClr val="lt1"/>
                </a:solidFill>
              </a:defRPr>
            </a:lvl8pPr>
            <a:lvl9pPr marL="4114800" lvl="8" indent="-304800">
              <a:spcBef>
                <a:spcPts val="0"/>
              </a:spcBef>
              <a:spcAft>
                <a:spcPts val="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419"/>
              <a:pPr marL="0" lvl="0" indent="0" algn="r" rtl="0">
                <a:spcBef>
                  <a:spcPts val="0"/>
                </a:spcBef>
                <a:spcAft>
                  <a:spcPts val="0"/>
                </a:spcAft>
                <a:buNone/>
              </a:pPr>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s://github.com/MisterHunter666/Hugging-Face" TargetMode="External"/><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hyperlink" Target="https://hugging-face-ten-kappa.vercel.app/"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ctrTitle"/>
          </p:nvPr>
        </p:nvSpPr>
        <p:spPr>
          <a:xfrm>
            <a:off x="224450" y="861750"/>
            <a:ext cx="8520600" cy="15888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419" sz="4800"/>
              <a:t>      </a:t>
            </a:r>
            <a:r>
              <a:rPr lang="es-419" sz="5300" b="1"/>
              <a:t>Presentación</a:t>
            </a:r>
            <a:endParaRPr sz="5300" b="1"/>
          </a:p>
          <a:p>
            <a:pPr marL="0" lvl="0" indent="0" algn="l" rtl="0">
              <a:spcBef>
                <a:spcPts val="0"/>
              </a:spcBef>
              <a:spcAft>
                <a:spcPts val="0"/>
              </a:spcAft>
              <a:buNone/>
            </a:pPr>
            <a:endParaRPr/>
          </a:p>
        </p:txBody>
      </p:sp>
      <p:sp>
        <p:nvSpPr>
          <p:cNvPr id="68" name="Google Shape;68;p13"/>
          <p:cNvSpPr txBox="1">
            <a:spLocks noGrp="1"/>
          </p:cNvSpPr>
          <p:nvPr>
            <p:ph type="subTitle" idx="1"/>
          </p:nvPr>
        </p:nvSpPr>
        <p:spPr>
          <a:xfrm>
            <a:off x="468750" y="2341875"/>
            <a:ext cx="8593200" cy="10377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r>
              <a:rPr lang="es-419" sz="3600" b="1"/>
              <a:t>Generador de imágenes con IA</a:t>
            </a:r>
            <a:endParaRPr sz="3600" b="1"/>
          </a:p>
        </p:txBody>
      </p:sp>
      <p:pic>
        <p:nvPicPr>
          <p:cNvPr id="69" name="Google Shape;69;p13"/>
          <p:cNvPicPr preferRelativeResize="0"/>
          <p:nvPr/>
        </p:nvPicPr>
        <p:blipFill>
          <a:blip r:embed="rId3">
            <a:alphaModFix/>
          </a:blip>
          <a:stretch>
            <a:fillRect/>
          </a:stretch>
        </p:blipFill>
        <p:spPr>
          <a:xfrm>
            <a:off x="3683725" y="3727266"/>
            <a:ext cx="2669925" cy="70868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additive="base">
                                        <p:cTn id="7" dur="900"/>
                                        <p:tgtEl>
                                          <p:spTgt spid="67"/>
                                        </p:tgtEl>
                                        <p:attrNameLst>
                                          <p:attrName>ppt_w</p:attrName>
                                        </p:attrNameLst>
                                      </p:cBhvr>
                                      <p:tavLst>
                                        <p:tav tm="0">
                                          <p:val>
                                            <p:strVal val="0"/>
                                          </p:val>
                                        </p:tav>
                                        <p:tav tm="100000">
                                          <p:val>
                                            <p:strVal val="#ppt_w"/>
                                          </p:val>
                                        </p:tav>
                                      </p:tavLst>
                                    </p:anim>
                                    <p:anim calcmode="lin" valueType="num">
                                      <p:cBhvr additive="base">
                                        <p:cTn id="8" dur="900"/>
                                        <p:tgtEl>
                                          <p:spTgt spid="67"/>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68"/>
                                        </p:tgtEl>
                                        <p:attrNameLst>
                                          <p:attrName>style.visibility</p:attrName>
                                        </p:attrNameLst>
                                      </p:cBhvr>
                                      <p:to>
                                        <p:strVal val="visible"/>
                                      </p:to>
                                    </p:set>
                                    <p:anim calcmode="lin" valueType="num">
                                      <p:cBhvr additive="base">
                                        <p:cTn id="11" dur="900"/>
                                        <p:tgtEl>
                                          <p:spTgt spid="68"/>
                                        </p:tgtEl>
                                        <p:attrNameLst>
                                          <p:attrName>ppt_w</p:attrName>
                                        </p:attrNameLst>
                                      </p:cBhvr>
                                      <p:tavLst>
                                        <p:tav tm="0">
                                          <p:val>
                                            <p:strVal val="0"/>
                                          </p:val>
                                        </p:tav>
                                        <p:tav tm="100000">
                                          <p:val>
                                            <p:strVal val="#ppt_w"/>
                                          </p:val>
                                        </p:tav>
                                      </p:tavLst>
                                    </p:anim>
                                    <p:anim calcmode="lin" valueType="num">
                                      <p:cBhvr additive="base">
                                        <p:cTn id="12" dur="900"/>
                                        <p:tgtEl>
                                          <p:spTgt spid="68"/>
                                        </p:tgtEl>
                                        <p:attrNameLst>
                                          <p:attrName>ppt_h</p:attrName>
                                        </p:attrNameLst>
                                      </p:cBhvr>
                                      <p:tavLst>
                                        <p:tav tm="0">
                                          <p:val>
                                            <p:strVal val="0"/>
                                          </p:val>
                                        </p:tav>
                                        <p:tav tm="100000">
                                          <p:val>
                                            <p:strVal val="#ppt_h"/>
                                          </p:val>
                                        </p:tav>
                                      </p:tavLst>
                                    </p:anim>
                                  </p:childTnLst>
                                </p:cTn>
                              </p:par>
                              <p:par>
                                <p:cTn id="13" presetID="23" presetClass="entr" presetSubtype="16" fill="hold" nodeType="withEffect">
                                  <p:stCondLst>
                                    <p:cond delay="0"/>
                                  </p:stCondLst>
                                  <p:childTnLst>
                                    <p:set>
                                      <p:cBhvr>
                                        <p:cTn id="14" dur="1" fill="hold">
                                          <p:stCondLst>
                                            <p:cond delay="0"/>
                                          </p:stCondLst>
                                        </p:cTn>
                                        <p:tgtEl>
                                          <p:spTgt spid="69"/>
                                        </p:tgtEl>
                                        <p:attrNameLst>
                                          <p:attrName>style.visibility</p:attrName>
                                        </p:attrNameLst>
                                      </p:cBhvr>
                                      <p:to>
                                        <p:strVal val="visible"/>
                                      </p:to>
                                    </p:set>
                                    <p:anim calcmode="lin" valueType="num">
                                      <p:cBhvr additive="base">
                                        <p:cTn id="15" dur="900"/>
                                        <p:tgtEl>
                                          <p:spTgt spid="69"/>
                                        </p:tgtEl>
                                        <p:attrNameLst>
                                          <p:attrName>ppt_w</p:attrName>
                                        </p:attrNameLst>
                                      </p:cBhvr>
                                      <p:tavLst>
                                        <p:tav tm="0">
                                          <p:val>
                                            <p:strVal val="0"/>
                                          </p:val>
                                        </p:tav>
                                        <p:tav tm="100000">
                                          <p:val>
                                            <p:strVal val="#ppt_w"/>
                                          </p:val>
                                        </p:tav>
                                      </p:tavLst>
                                    </p:anim>
                                    <p:anim calcmode="lin" valueType="num">
                                      <p:cBhvr additive="base">
                                        <p:cTn id="16" dur="900"/>
                                        <p:tgtEl>
                                          <p:spTgt spid="6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4"/>
          <p:cNvSpPr txBox="1">
            <a:spLocks noGrp="1"/>
          </p:cNvSpPr>
          <p:nvPr>
            <p:ph type="title"/>
          </p:nvPr>
        </p:nvSpPr>
        <p:spPr>
          <a:xfrm>
            <a:off x="471900" y="550606"/>
            <a:ext cx="8222100" cy="955919"/>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1400"/>
              </a:spcBef>
              <a:spcAft>
                <a:spcPts val="400"/>
              </a:spcAft>
              <a:buNone/>
            </a:pPr>
            <a:r>
              <a:rPr lang="es-419" sz="4800" b="1" dirty="0"/>
              <a:t>Marco Teórico-conceptual</a:t>
            </a:r>
            <a:endParaRPr sz="4800" b="1"/>
          </a:p>
        </p:txBody>
      </p:sp>
      <p:sp>
        <p:nvSpPr>
          <p:cNvPr id="75" name="Google Shape;75;p14"/>
          <p:cNvSpPr txBox="1">
            <a:spLocks noGrp="1"/>
          </p:cNvSpPr>
          <p:nvPr>
            <p:ph type="body" idx="1"/>
          </p:nvPr>
        </p:nvSpPr>
        <p:spPr>
          <a:xfrm>
            <a:off x="600125" y="2517058"/>
            <a:ext cx="8222100" cy="2538442"/>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1200"/>
              </a:spcBef>
              <a:spcAft>
                <a:spcPts val="1200"/>
              </a:spcAft>
              <a:buNone/>
            </a:pPr>
            <a:r>
              <a:rPr lang="es-419" sz="2000" dirty="0">
                <a:solidFill>
                  <a:srgbClr val="000000"/>
                </a:solidFill>
              </a:rPr>
              <a:t>La Inteligencia Artificial ha transformado diversos sectores mediante la automatización y la creación de contenido original. Este proyecto busca facilitar el acceso a la generación de imágenes con IA, permitiendo que cualquier persona cree ilustraciones personalizadas a partir de texto. Para ello, se utiliza la arquitectura MERN junto con modelos de Hugging </a:t>
            </a:r>
            <a:r>
              <a:rPr lang="es-419" sz="2000" dirty="0" smtClean="0">
                <a:solidFill>
                  <a:srgbClr val="000000"/>
                </a:solidFill>
              </a:rPr>
              <a:t>Face</a:t>
            </a:r>
            <a:r>
              <a:rPr lang="es-419" sz="2000" dirty="0">
                <a:solidFill>
                  <a:srgbClr val="000000"/>
                </a:solidFill>
              </a:rPr>
              <a:t>.</a:t>
            </a:r>
            <a:endParaRPr sz="2000"/>
          </a:p>
        </p:txBody>
      </p:sp>
      <p:sp>
        <p:nvSpPr>
          <p:cNvPr id="76" name="Google Shape;76;p14"/>
          <p:cNvSpPr txBox="1">
            <a:spLocks noGrp="1"/>
          </p:cNvSpPr>
          <p:nvPr>
            <p:ph type="body" idx="1"/>
          </p:nvPr>
        </p:nvSpPr>
        <p:spPr>
          <a:xfrm>
            <a:off x="600125" y="1809135"/>
            <a:ext cx="1854300" cy="6096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1200"/>
              </a:spcBef>
              <a:spcAft>
                <a:spcPts val="1200"/>
              </a:spcAft>
              <a:buNone/>
            </a:pPr>
            <a:r>
              <a:rPr lang="es-419" sz="2200" b="1">
                <a:solidFill>
                  <a:srgbClr val="000000"/>
                </a:solidFill>
              </a:rPr>
              <a:t>Introducción:</a:t>
            </a:r>
            <a:endParaRPr sz="2200" b="1">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 calcmode="lin" valueType="num">
                                      <p:cBhvr additive="base">
                                        <p:cTn id="7" dur="1000"/>
                                        <p:tgtEl>
                                          <p:spTgt spid="74"/>
                                        </p:tgtEl>
                                        <p:attrNameLst>
                                          <p:attrName>ppt_w</p:attrName>
                                        </p:attrNameLst>
                                      </p:cBhvr>
                                      <p:tavLst>
                                        <p:tav tm="0">
                                          <p:val>
                                            <p:strVal val="0"/>
                                          </p:val>
                                        </p:tav>
                                        <p:tav tm="100000">
                                          <p:val>
                                            <p:strVal val="#ppt_w"/>
                                          </p:val>
                                        </p:tav>
                                      </p:tavLst>
                                    </p:anim>
                                    <p:anim calcmode="lin" valueType="num">
                                      <p:cBhvr additive="base">
                                        <p:cTn id="8" dur="1000"/>
                                        <p:tgtEl>
                                          <p:spTgt spid="74"/>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76"/>
                                        </p:tgtEl>
                                        <p:attrNameLst>
                                          <p:attrName>style.visibility</p:attrName>
                                        </p:attrNameLst>
                                      </p:cBhvr>
                                      <p:to>
                                        <p:strVal val="visible"/>
                                      </p:to>
                                    </p:set>
                                    <p:anim calcmode="lin" valueType="num">
                                      <p:cBhvr additive="base">
                                        <p:cTn id="13" dur="1000"/>
                                        <p:tgtEl>
                                          <p:spTgt spid="76"/>
                                        </p:tgtEl>
                                        <p:attrNameLst>
                                          <p:attrName>ppt_w</p:attrName>
                                        </p:attrNameLst>
                                      </p:cBhvr>
                                      <p:tavLst>
                                        <p:tav tm="0">
                                          <p:val>
                                            <p:strVal val="0"/>
                                          </p:val>
                                        </p:tav>
                                        <p:tav tm="100000">
                                          <p:val>
                                            <p:strVal val="#ppt_w"/>
                                          </p:val>
                                        </p:tav>
                                      </p:tavLst>
                                    </p:anim>
                                    <p:anim calcmode="lin" valueType="num">
                                      <p:cBhvr additive="base">
                                        <p:cTn id="14" dur="1000"/>
                                        <p:tgtEl>
                                          <p:spTgt spid="76"/>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75"/>
                                        </p:tgtEl>
                                        <p:attrNameLst>
                                          <p:attrName>style.visibility</p:attrName>
                                        </p:attrNameLst>
                                      </p:cBhvr>
                                      <p:to>
                                        <p:strVal val="visible"/>
                                      </p:to>
                                    </p:set>
                                    <p:anim calcmode="lin" valueType="num">
                                      <p:cBhvr additive="base">
                                        <p:cTn id="19" dur="1000"/>
                                        <p:tgtEl>
                                          <p:spTgt spid="75"/>
                                        </p:tgtEl>
                                        <p:attrNameLst>
                                          <p:attrName>ppt_w</p:attrName>
                                        </p:attrNameLst>
                                      </p:cBhvr>
                                      <p:tavLst>
                                        <p:tav tm="0">
                                          <p:val>
                                            <p:strVal val="0"/>
                                          </p:val>
                                        </p:tav>
                                        <p:tav tm="100000">
                                          <p:val>
                                            <p:strVal val="#ppt_w"/>
                                          </p:val>
                                        </p:tav>
                                      </p:tavLst>
                                    </p:anim>
                                    <p:anim calcmode="lin" valueType="num">
                                      <p:cBhvr additive="base">
                                        <p:cTn id="20" dur="1000"/>
                                        <p:tgtEl>
                                          <p:spTgt spid="7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5"/>
          <p:cNvSpPr txBox="1">
            <a:spLocks noGrp="1"/>
          </p:cNvSpPr>
          <p:nvPr>
            <p:ph type="title"/>
          </p:nvPr>
        </p:nvSpPr>
        <p:spPr>
          <a:xfrm>
            <a:off x="471900" y="127819"/>
            <a:ext cx="8222100" cy="1378956"/>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1400"/>
              </a:spcBef>
              <a:spcAft>
                <a:spcPts val="400"/>
              </a:spcAft>
              <a:buNone/>
            </a:pPr>
            <a:r>
              <a:rPr lang="es-419" sz="3600" b="1" dirty="0"/>
              <a:t>Inteligencia Artificial: Origen y Evolución</a:t>
            </a:r>
            <a:endParaRPr sz="3600" b="1"/>
          </a:p>
        </p:txBody>
      </p:sp>
      <p:sp>
        <p:nvSpPr>
          <p:cNvPr id="82" name="Google Shape;82;p15"/>
          <p:cNvSpPr txBox="1">
            <a:spLocks noGrp="1"/>
          </p:cNvSpPr>
          <p:nvPr>
            <p:ph type="body" idx="1"/>
          </p:nvPr>
        </p:nvSpPr>
        <p:spPr>
          <a:xfrm>
            <a:off x="471900" y="1919074"/>
            <a:ext cx="8222100" cy="3026551"/>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1400"/>
              </a:spcBef>
              <a:spcAft>
                <a:spcPts val="0"/>
              </a:spcAft>
              <a:buNone/>
            </a:pPr>
            <a:r>
              <a:rPr lang="es-419" sz="1500" b="1" dirty="0">
                <a:solidFill>
                  <a:srgbClr val="000000"/>
                </a:solidFill>
                <a:latin typeface="Arial"/>
                <a:ea typeface="Arial"/>
                <a:cs typeface="Arial"/>
                <a:sym typeface="Arial"/>
              </a:rPr>
              <a:t>Inteligencia Artificial: Origen y Evolución</a:t>
            </a:r>
            <a:endParaRPr sz="1500" b="1">
              <a:solidFill>
                <a:srgbClr val="000000"/>
              </a:solidFill>
              <a:latin typeface="Arial"/>
              <a:ea typeface="Arial"/>
              <a:cs typeface="Arial"/>
              <a:sym typeface="Arial"/>
            </a:endParaRPr>
          </a:p>
          <a:p>
            <a:pPr marL="0" lvl="0" indent="0" algn="l" rtl="0">
              <a:spcBef>
                <a:spcPts val="1200"/>
              </a:spcBef>
              <a:spcAft>
                <a:spcPts val="0"/>
              </a:spcAft>
              <a:buNone/>
            </a:pPr>
            <a:r>
              <a:rPr lang="es-419" sz="1500" dirty="0">
                <a:solidFill>
                  <a:srgbClr val="000000"/>
                </a:solidFill>
                <a:latin typeface="Arial"/>
                <a:ea typeface="Arial"/>
                <a:cs typeface="Arial"/>
                <a:sym typeface="Arial"/>
              </a:rPr>
              <a:t>La IA busca crear sistemas capaces de imitar la inteligencia humana.</a:t>
            </a:r>
            <a:br>
              <a:rPr lang="es-419" sz="1500" dirty="0">
                <a:solidFill>
                  <a:srgbClr val="000000"/>
                </a:solidFill>
                <a:latin typeface="Arial"/>
                <a:ea typeface="Arial"/>
                <a:cs typeface="Arial"/>
                <a:sym typeface="Arial"/>
              </a:rPr>
            </a:br>
            <a:r>
              <a:rPr lang="es-419" sz="1500" dirty="0">
                <a:solidFill>
                  <a:srgbClr val="000000"/>
                </a:solidFill>
                <a:latin typeface="Arial"/>
                <a:ea typeface="Arial"/>
                <a:cs typeface="Arial"/>
                <a:sym typeface="Arial"/>
              </a:rPr>
              <a:t> Surge en los años 50 con Alan Turing y John McCarthy.</a:t>
            </a:r>
            <a:br>
              <a:rPr lang="es-419" sz="1500" dirty="0">
                <a:solidFill>
                  <a:srgbClr val="000000"/>
                </a:solidFill>
                <a:latin typeface="Arial"/>
                <a:ea typeface="Arial"/>
                <a:cs typeface="Arial"/>
                <a:sym typeface="Arial"/>
              </a:rPr>
            </a:br>
            <a:r>
              <a:rPr lang="es-419" sz="1500" dirty="0">
                <a:solidFill>
                  <a:srgbClr val="000000"/>
                </a:solidFill>
                <a:latin typeface="Arial"/>
                <a:ea typeface="Arial"/>
                <a:cs typeface="Arial"/>
                <a:sym typeface="Arial"/>
              </a:rPr>
              <a:t> Ha pasado por distintas etapas:</a:t>
            </a:r>
            <a:endParaRPr sz="1500">
              <a:solidFill>
                <a:srgbClr val="000000"/>
              </a:solidFill>
              <a:latin typeface="Arial"/>
              <a:ea typeface="Arial"/>
              <a:cs typeface="Arial"/>
              <a:sym typeface="Arial"/>
            </a:endParaRPr>
          </a:p>
          <a:p>
            <a:pPr marL="457200" lvl="0" indent="-323850" algn="l" rtl="0">
              <a:spcBef>
                <a:spcPts val="1200"/>
              </a:spcBef>
              <a:spcAft>
                <a:spcPts val="0"/>
              </a:spcAft>
              <a:buClr>
                <a:srgbClr val="000000"/>
              </a:buClr>
              <a:buSzPts val="1500"/>
              <a:buFont typeface="Arial"/>
              <a:buChar char="●"/>
            </a:pPr>
            <a:r>
              <a:rPr lang="es-419" sz="1500" b="1" dirty="0">
                <a:solidFill>
                  <a:srgbClr val="000000"/>
                </a:solidFill>
                <a:latin typeface="Arial"/>
                <a:ea typeface="Arial"/>
                <a:cs typeface="Arial"/>
                <a:sym typeface="Arial"/>
              </a:rPr>
              <a:t>Sistemas expertos</a:t>
            </a:r>
            <a:r>
              <a:rPr lang="es-419" sz="1500" dirty="0">
                <a:solidFill>
                  <a:srgbClr val="000000"/>
                </a:solidFill>
                <a:latin typeface="Arial"/>
                <a:ea typeface="Arial"/>
                <a:cs typeface="Arial"/>
                <a:sym typeface="Arial"/>
              </a:rPr>
              <a:t> (70-80): reglas predefinidas.</a:t>
            </a:r>
            <a:br>
              <a:rPr lang="es-419" sz="1500" dirty="0">
                <a:solidFill>
                  <a:srgbClr val="000000"/>
                </a:solidFill>
                <a:latin typeface="Arial"/>
                <a:ea typeface="Arial"/>
                <a:cs typeface="Arial"/>
                <a:sym typeface="Arial"/>
              </a:rPr>
            </a:br>
            <a:endParaRPr sz="1500">
              <a:solidFill>
                <a:srgbClr val="000000"/>
              </a:solidFill>
              <a:latin typeface="Arial"/>
              <a:ea typeface="Arial"/>
              <a:cs typeface="Arial"/>
              <a:sym typeface="Arial"/>
            </a:endParaRPr>
          </a:p>
          <a:p>
            <a:pPr marL="457200" lvl="0" indent="-323850" algn="l" rtl="0">
              <a:spcBef>
                <a:spcPts val="0"/>
              </a:spcBef>
              <a:spcAft>
                <a:spcPts val="0"/>
              </a:spcAft>
              <a:buClr>
                <a:srgbClr val="000000"/>
              </a:buClr>
              <a:buSzPts val="1500"/>
              <a:buFont typeface="Arial"/>
              <a:buChar char="●"/>
            </a:pPr>
            <a:r>
              <a:rPr lang="es-419" sz="1500" b="1" dirty="0">
                <a:solidFill>
                  <a:srgbClr val="000000"/>
                </a:solidFill>
                <a:latin typeface="Arial"/>
                <a:ea typeface="Arial"/>
                <a:cs typeface="Arial"/>
                <a:sym typeface="Arial"/>
              </a:rPr>
              <a:t>Aprendizaje automático</a:t>
            </a:r>
            <a:r>
              <a:rPr lang="es-419" sz="1500" dirty="0">
                <a:solidFill>
                  <a:srgbClr val="000000"/>
                </a:solidFill>
                <a:latin typeface="Arial"/>
                <a:ea typeface="Arial"/>
                <a:cs typeface="Arial"/>
                <a:sym typeface="Arial"/>
              </a:rPr>
              <a:t> (90-2000): aprendizaje desde datos.</a:t>
            </a:r>
            <a:br>
              <a:rPr lang="es-419" sz="1500" dirty="0">
                <a:solidFill>
                  <a:srgbClr val="000000"/>
                </a:solidFill>
                <a:latin typeface="Arial"/>
                <a:ea typeface="Arial"/>
                <a:cs typeface="Arial"/>
                <a:sym typeface="Arial"/>
              </a:rPr>
            </a:br>
            <a:endParaRPr sz="1500">
              <a:solidFill>
                <a:srgbClr val="000000"/>
              </a:solidFill>
              <a:latin typeface="Arial"/>
              <a:ea typeface="Arial"/>
              <a:cs typeface="Arial"/>
              <a:sym typeface="Arial"/>
            </a:endParaRPr>
          </a:p>
          <a:p>
            <a:pPr marL="457200" lvl="0" indent="-323850" algn="l" rtl="0">
              <a:spcBef>
                <a:spcPts val="0"/>
              </a:spcBef>
              <a:spcAft>
                <a:spcPts val="0"/>
              </a:spcAft>
              <a:buClr>
                <a:srgbClr val="000000"/>
              </a:buClr>
              <a:buSzPts val="1500"/>
              <a:buFont typeface="Arial"/>
              <a:buChar char="●"/>
            </a:pPr>
            <a:r>
              <a:rPr lang="es-419" sz="1500" b="1" dirty="0">
                <a:solidFill>
                  <a:srgbClr val="000000"/>
                </a:solidFill>
                <a:latin typeface="Arial"/>
                <a:ea typeface="Arial"/>
                <a:cs typeface="Arial"/>
                <a:sym typeface="Arial"/>
              </a:rPr>
              <a:t>Aprendizaje profundo</a:t>
            </a:r>
            <a:r>
              <a:rPr lang="es-419" sz="1500" dirty="0">
                <a:solidFill>
                  <a:srgbClr val="000000"/>
                </a:solidFill>
                <a:latin typeface="Arial"/>
                <a:ea typeface="Arial"/>
                <a:cs typeface="Arial"/>
                <a:sym typeface="Arial"/>
              </a:rPr>
              <a:t> (2010+): redes neuronales avanzadas.</a:t>
            </a:r>
            <a:endParaRPr sz="1500">
              <a:solidFill>
                <a:srgbClr val="000000"/>
              </a:solidFill>
              <a:latin typeface="Arial"/>
              <a:ea typeface="Arial"/>
              <a:cs typeface="Arial"/>
              <a:sym typeface="Arial"/>
            </a:endParaRPr>
          </a:p>
          <a:p>
            <a:pPr marL="0" lvl="0" indent="0" algn="ctr" rtl="0">
              <a:spcBef>
                <a:spcPts val="1200"/>
              </a:spcBef>
              <a:spcAft>
                <a:spcPts val="1200"/>
              </a:spcAft>
              <a:buNone/>
            </a:pPr>
            <a:endParaRPr sz="3600">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 calcmode="lin" valueType="num">
                                      <p:cBhvr additive="base">
                                        <p:cTn id="7" dur="1000"/>
                                        <p:tgtEl>
                                          <p:spTgt spid="81"/>
                                        </p:tgtEl>
                                        <p:attrNameLst>
                                          <p:attrName>ppt_w</p:attrName>
                                        </p:attrNameLst>
                                      </p:cBhvr>
                                      <p:tavLst>
                                        <p:tav tm="0">
                                          <p:val>
                                            <p:strVal val="0"/>
                                          </p:val>
                                        </p:tav>
                                        <p:tav tm="100000">
                                          <p:val>
                                            <p:strVal val="#ppt_w"/>
                                          </p:val>
                                        </p:tav>
                                      </p:tavLst>
                                    </p:anim>
                                    <p:anim calcmode="lin" valueType="num">
                                      <p:cBhvr additive="base">
                                        <p:cTn id="8" dur="1000"/>
                                        <p:tgtEl>
                                          <p:spTgt spid="8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82"/>
                                        </p:tgtEl>
                                        <p:attrNameLst>
                                          <p:attrName>style.visibility</p:attrName>
                                        </p:attrNameLst>
                                      </p:cBhvr>
                                      <p:to>
                                        <p:strVal val="visible"/>
                                      </p:to>
                                    </p:set>
                                    <p:anim calcmode="lin" valueType="num">
                                      <p:cBhvr additive="base">
                                        <p:cTn id="13" dur="1000"/>
                                        <p:tgtEl>
                                          <p:spTgt spid="82"/>
                                        </p:tgtEl>
                                        <p:attrNameLst>
                                          <p:attrName>ppt_w</p:attrName>
                                        </p:attrNameLst>
                                      </p:cBhvr>
                                      <p:tavLst>
                                        <p:tav tm="0">
                                          <p:val>
                                            <p:strVal val="0"/>
                                          </p:val>
                                        </p:tav>
                                        <p:tav tm="100000">
                                          <p:val>
                                            <p:strVal val="#ppt_w"/>
                                          </p:val>
                                        </p:tav>
                                      </p:tavLst>
                                    </p:anim>
                                    <p:anim calcmode="lin" valueType="num">
                                      <p:cBhvr additive="base">
                                        <p:cTn id="14" dur="1000"/>
                                        <p:tgtEl>
                                          <p:spTgt spid="8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471900" y="91575"/>
            <a:ext cx="8222100" cy="1520400"/>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r>
              <a:rPr lang="es-419" sz="4800" b="1"/>
              <a:t>Inteligencia Artificial Generativa</a:t>
            </a:r>
            <a:endParaRPr sz="4800" b="1"/>
          </a:p>
        </p:txBody>
      </p:sp>
      <p:sp>
        <p:nvSpPr>
          <p:cNvPr id="88" name="Google Shape;88;p16"/>
          <p:cNvSpPr txBox="1">
            <a:spLocks noGrp="1"/>
          </p:cNvSpPr>
          <p:nvPr>
            <p:ph type="body" idx="1"/>
          </p:nvPr>
        </p:nvSpPr>
        <p:spPr>
          <a:xfrm>
            <a:off x="471900" y="1919075"/>
            <a:ext cx="8222100" cy="30450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1200"/>
              </a:spcBef>
              <a:spcAft>
                <a:spcPts val="0"/>
              </a:spcAft>
              <a:buNone/>
            </a:pPr>
            <a:r>
              <a:rPr lang="es-419">
                <a:solidFill>
                  <a:srgbClr val="000000"/>
                </a:solidFill>
                <a:latin typeface="Arial"/>
                <a:ea typeface="Arial"/>
                <a:cs typeface="Arial"/>
                <a:sym typeface="Arial"/>
              </a:rPr>
              <a:t>La IA generativa crea contenido original como imágenes, texto o música.</a:t>
            </a:r>
            <a:br>
              <a:rPr lang="es-419">
                <a:solidFill>
                  <a:srgbClr val="000000"/>
                </a:solidFill>
                <a:latin typeface="Arial"/>
                <a:ea typeface="Arial"/>
                <a:cs typeface="Arial"/>
                <a:sym typeface="Arial"/>
              </a:rPr>
            </a:br>
            <a:r>
              <a:rPr lang="es-419">
                <a:solidFill>
                  <a:srgbClr val="000000"/>
                </a:solidFill>
                <a:latin typeface="Arial"/>
                <a:ea typeface="Arial"/>
                <a:cs typeface="Arial"/>
                <a:sym typeface="Arial"/>
              </a:rPr>
              <a:t> Usa modelos avanzados como:</a:t>
            </a:r>
            <a:endParaRPr>
              <a:solidFill>
                <a:srgbClr val="000000"/>
              </a:solidFill>
              <a:latin typeface="Arial"/>
              <a:ea typeface="Arial"/>
              <a:cs typeface="Arial"/>
              <a:sym typeface="Arial"/>
            </a:endParaRPr>
          </a:p>
          <a:p>
            <a:pPr marL="457200" lvl="0" indent="-342900" algn="l" rtl="0">
              <a:spcBef>
                <a:spcPts val="1200"/>
              </a:spcBef>
              <a:spcAft>
                <a:spcPts val="0"/>
              </a:spcAft>
              <a:buClr>
                <a:srgbClr val="000000"/>
              </a:buClr>
              <a:buSzPts val="1800"/>
              <a:buFont typeface="Arial"/>
              <a:buChar char="●"/>
            </a:pPr>
            <a:r>
              <a:rPr lang="es-419" b="1">
                <a:solidFill>
                  <a:srgbClr val="000000"/>
                </a:solidFill>
                <a:latin typeface="Arial"/>
                <a:ea typeface="Arial"/>
                <a:cs typeface="Arial"/>
                <a:sym typeface="Arial"/>
              </a:rPr>
              <a:t>GANs</a:t>
            </a:r>
            <a:r>
              <a:rPr lang="es-419">
                <a:solidFill>
                  <a:srgbClr val="000000"/>
                </a:solidFill>
                <a:latin typeface="Arial"/>
                <a:ea typeface="Arial"/>
                <a:cs typeface="Arial"/>
                <a:sym typeface="Arial"/>
              </a:rPr>
              <a:t>: redes que generan contenido realista.</a:t>
            </a:r>
            <a:br>
              <a:rPr lang="es-419">
                <a:solidFill>
                  <a:srgbClr val="000000"/>
                </a:solidFill>
                <a:latin typeface="Arial"/>
                <a:ea typeface="Arial"/>
                <a:cs typeface="Arial"/>
                <a:sym typeface="Arial"/>
              </a:rPr>
            </a:br>
            <a:endParaRPr>
              <a:solidFill>
                <a:srgbClr val="000000"/>
              </a:solidFill>
              <a:latin typeface="Arial"/>
              <a:ea typeface="Arial"/>
              <a:cs typeface="Arial"/>
              <a:sym typeface="Arial"/>
            </a:endParaRPr>
          </a:p>
          <a:p>
            <a:pPr marL="457200" lvl="0" indent="-342900" algn="l" rtl="0">
              <a:spcBef>
                <a:spcPts val="0"/>
              </a:spcBef>
              <a:spcAft>
                <a:spcPts val="0"/>
              </a:spcAft>
              <a:buClr>
                <a:srgbClr val="000000"/>
              </a:buClr>
              <a:buSzPts val="1800"/>
              <a:buFont typeface="Arial"/>
              <a:buChar char="●"/>
            </a:pPr>
            <a:r>
              <a:rPr lang="es-419" b="1">
                <a:solidFill>
                  <a:srgbClr val="000000"/>
                </a:solidFill>
                <a:latin typeface="Arial"/>
                <a:ea typeface="Arial"/>
                <a:cs typeface="Arial"/>
                <a:sym typeface="Arial"/>
              </a:rPr>
              <a:t>Modelos de difusión</a:t>
            </a:r>
            <a:r>
              <a:rPr lang="es-419">
                <a:solidFill>
                  <a:srgbClr val="000000"/>
                </a:solidFill>
                <a:latin typeface="Arial"/>
                <a:ea typeface="Arial"/>
                <a:cs typeface="Arial"/>
                <a:sym typeface="Arial"/>
              </a:rPr>
              <a:t>: convierten ruido en imágenes detalladas.</a:t>
            </a:r>
            <a:br>
              <a:rPr lang="es-419">
                <a:solidFill>
                  <a:srgbClr val="000000"/>
                </a:solidFill>
                <a:latin typeface="Arial"/>
                <a:ea typeface="Arial"/>
                <a:cs typeface="Arial"/>
                <a:sym typeface="Arial"/>
              </a:rPr>
            </a:br>
            <a:endParaRPr>
              <a:solidFill>
                <a:srgbClr val="000000"/>
              </a:solidFill>
              <a:latin typeface="Arial"/>
              <a:ea typeface="Arial"/>
              <a:cs typeface="Arial"/>
              <a:sym typeface="Arial"/>
            </a:endParaRPr>
          </a:p>
          <a:p>
            <a:pPr marL="457200" lvl="0" indent="-342900" algn="l" rtl="0">
              <a:spcBef>
                <a:spcPts val="0"/>
              </a:spcBef>
              <a:spcAft>
                <a:spcPts val="0"/>
              </a:spcAft>
              <a:buClr>
                <a:srgbClr val="000000"/>
              </a:buClr>
              <a:buSzPts val="1800"/>
              <a:buFont typeface="Arial"/>
              <a:buChar char="●"/>
            </a:pPr>
            <a:r>
              <a:rPr lang="es-419" b="1">
                <a:solidFill>
                  <a:srgbClr val="000000"/>
                </a:solidFill>
                <a:latin typeface="Arial"/>
                <a:ea typeface="Arial"/>
                <a:cs typeface="Arial"/>
                <a:sym typeface="Arial"/>
              </a:rPr>
              <a:t>Transformers</a:t>
            </a:r>
            <a:r>
              <a:rPr lang="es-419">
                <a:solidFill>
                  <a:srgbClr val="000000"/>
                </a:solidFill>
                <a:latin typeface="Arial"/>
                <a:ea typeface="Arial"/>
                <a:cs typeface="Arial"/>
                <a:sym typeface="Arial"/>
              </a:rPr>
              <a:t>: usados en lenguaje y visión (ej. Hugging Face).</a:t>
            </a:r>
            <a:br>
              <a:rPr lang="es-419">
                <a:solidFill>
                  <a:srgbClr val="000000"/>
                </a:solidFill>
                <a:latin typeface="Arial"/>
                <a:ea typeface="Arial"/>
                <a:cs typeface="Arial"/>
                <a:sym typeface="Arial"/>
              </a:rPr>
            </a:br>
            <a:r>
              <a:rPr lang="es-419">
                <a:solidFill>
                  <a:srgbClr val="000000"/>
                </a:solidFill>
                <a:latin typeface="Arial"/>
                <a:ea typeface="Arial"/>
                <a:cs typeface="Arial"/>
                <a:sym typeface="Arial"/>
              </a:rPr>
              <a:t> Estas técnicas se aplican en diseño, marketing, videojuegos y educación.</a:t>
            </a:r>
            <a:endParaRPr>
              <a:solidFill>
                <a:srgbClr val="000000"/>
              </a:solidFill>
              <a:latin typeface="Arial"/>
              <a:ea typeface="Arial"/>
              <a:cs typeface="Arial"/>
              <a:sym typeface="Arial"/>
            </a:endParaRPr>
          </a:p>
          <a:p>
            <a:pPr marL="0" lvl="0" indent="0" algn="l" rtl="0">
              <a:spcBef>
                <a:spcPts val="1200"/>
              </a:spcBef>
              <a:spcAft>
                <a:spcPts val="0"/>
              </a:spcAft>
              <a:buNone/>
            </a:pPr>
            <a:endParaRPr sz="1500" b="1">
              <a:solidFill>
                <a:srgbClr val="000000"/>
              </a:solidFill>
              <a:latin typeface="Arial"/>
              <a:ea typeface="Arial"/>
              <a:cs typeface="Arial"/>
              <a:sym typeface="Arial"/>
            </a:endParaRPr>
          </a:p>
          <a:p>
            <a:pPr marL="0" lvl="0" indent="0" algn="ctr" rtl="0">
              <a:spcBef>
                <a:spcPts val="1200"/>
              </a:spcBef>
              <a:spcAft>
                <a:spcPts val="1200"/>
              </a:spcAft>
              <a:buNone/>
            </a:pPr>
            <a:endParaRPr sz="3600">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 calcmode="lin" valueType="num">
                                      <p:cBhvr additive="base">
                                        <p:cTn id="7" dur="800"/>
                                        <p:tgtEl>
                                          <p:spTgt spid="87"/>
                                        </p:tgtEl>
                                        <p:attrNameLst>
                                          <p:attrName>ppt_w</p:attrName>
                                        </p:attrNameLst>
                                      </p:cBhvr>
                                      <p:tavLst>
                                        <p:tav tm="0">
                                          <p:val>
                                            <p:strVal val="0"/>
                                          </p:val>
                                        </p:tav>
                                        <p:tav tm="100000">
                                          <p:val>
                                            <p:strVal val="#ppt_w"/>
                                          </p:val>
                                        </p:tav>
                                      </p:tavLst>
                                    </p:anim>
                                    <p:anim calcmode="lin" valueType="num">
                                      <p:cBhvr additive="base">
                                        <p:cTn id="8" dur="800"/>
                                        <p:tgtEl>
                                          <p:spTgt spid="8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88"/>
                                        </p:tgtEl>
                                        <p:attrNameLst>
                                          <p:attrName>style.visibility</p:attrName>
                                        </p:attrNameLst>
                                      </p:cBhvr>
                                      <p:to>
                                        <p:strVal val="visible"/>
                                      </p:to>
                                    </p:set>
                                    <p:anim calcmode="lin" valueType="num">
                                      <p:cBhvr additive="base">
                                        <p:cTn id="13" dur="800"/>
                                        <p:tgtEl>
                                          <p:spTgt spid="88"/>
                                        </p:tgtEl>
                                        <p:attrNameLst>
                                          <p:attrName>ppt_w</p:attrName>
                                        </p:attrNameLst>
                                      </p:cBhvr>
                                      <p:tavLst>
                                        <p:tav tm="0">
                                          <p:val>
                                            <p:strVal val="0"/>
                                          </p:val>
                                        </p:tav>
                                        <p:tav tm="100000">
                                          <p:val>
                                            <p:strVal val="#ppt_w"/>
                                          </p:val>
                                        </p:tav>
                                      </p:tavLst>
                                    </p:anim>
                                    <p:anim calcmode="lin" valueType="num">
                                      <p:cBhvr additive="base">
                                        <p:cTn id="14" dur="800"/>
                                        <p:tgtEl>
                                          <p:spTgt spid="8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471900" y="91575"/>
            <a:ext cx="8222100" cy="1530748"/>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1800"/>
              </a:spcBef>
              <a:spcAft>
                <a:spcPts val="400"/>
              </a:spcAft>
              <a:buNone/>
            </a:pPr>
            <a:r>
              <a:rPr lang="es-419" sz="4200" b="1" dirty="0"/>
              <a:t>Arquitectura MERN: Origen y Necesidad</a:t>
            </a:r>
            <a:endParaRPr sz="4200" b="1"/>
          </a:p>
        </p:txBody>
      </p:sp>
      <p:sp>
        <p:nvSpPr>
          <p:cNvPr id="94" name="Google Shape;94;p17"/>
          <p:cNvSpPr txBox="1">
            <a:spLocks noGrp="1"/>
          </p:cNvSpPr>
          <p:nvPr>
            <p:ph type="body" idx="1"/>
          </p:nvPr>
        </p:nvSpPr>
        <p:spPr>
          <a:xfrm>
            <a:off x="471900" y="1919075"/>
            <a:ext cx="8222100" cy="31365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1200"/>
              </a:spcBef>
              <a:spcAft>
                <a:spcPts val="0"/>
              </a:spcAft>
              <a:buNone/>
            </a:pPr>
            <a:r>
              <a:rPr lang="es-419" sz="1700">
                <a:solidFill>
                  <a:srgbClr val="000000"/>
                </a:solidFill>
                <a:latin typeface="Arial"/>
                <a:ea typeface="Arial"/>
                <a:cs typeface="Arial"/>
                <a:sym typeface="Arial"/>
              </a:rPr>
              <a:t>MERN combina tecnologías modernas para crear apps escalables y eficientes.</a:t>
            </a:r>
            <a:endParaRPr sz="1700">
              <a:solidFill>
                <a:srgbClr val="000000"/>
              </a:solidFill>
              <a:latin typeface="Arial"/>
              <a:ea typeface="Arial"/>
              <a:cs typeface="Arial"/>
              <a:sym typeface="Arial"/>
            </a:endParaRPr>
          </a:p>
          <a:p>
            <a:pPr marL="457200" lvl="0" indent="-336550" algn="l" rtl="0">
              <a:spcBef>
                <a:spcPts val="1200"/>
              </a:spcBef>
              <a:spcAft>
                <a:spcPts val="0"/>
              </a:spcAft>
              <a:buClr>
                <a:srgbClr val="000000"/>
              </a:buClr>
              <a:buSzPts val="1700"/>
              <a:buFont typeface="Arial"/>
              <a:buChar char="●"/>
            </a:pPr>
            <a:r>
              <a:rPr lang="es-419" sz="1700" b="1">
                <a:solidFill>
                  <a:srgbClr val="000000"/>
                </a:solidFill>
                <a:latin typeface="Arial"/>
                <a:ea typeface="Arial"/>
                <a:cs typeface="Arial"/>
                <a:sym typeface="Arial"/>
              </a:rPr>
              <a:t>JavaScript</a:t>
            </a:r>
            <a:r>
              <a:rPr lang="es-419" sz="1700">
                <a:solidFill>
                  <a:srgbClr val="000000"/>
                </a:solidFill>
                <a:latin typeface="Arial"/>
                <a:ea typeface="Arial"/>
                <a:cs typeface="Arial"/>
                <a:sym typeface="Arial"/>
              </a:rPr>
              <a:t> en todo el stack: desarrollo full-stack unificado.</a:t>
            </a:r>
            <a:br>
              <a:rPr lang="es-419" sz="1700">
                <a:solidFill>
                  <a:srgbClr val="000000"/>
                </a:solidFill>
                <a:latin typeface="Arial"/>
                <a:ea typeface="Arial"/>
                <a:cs typeface="Arial"/>
                <a:sym typeface="Arial"/>
              </a:rPr>
            </a:br>
            <a:endParaRPr sz="1700">
              <a:solidFill>
                <a:srgbClr val="000000"/>
              </a:solidFill>
              <a:latin typeface="Arial"/>
              <a:ea typeface="Arial"/>
              <a:cs typeface="Arial"/>
              <a:sym typeface="Arial"/>
            </a:endParaRPr>
          </a:p>
          <a:p>
            <a:pPr marL="457200" lvl="0" indent="-336550" algn="l" rtl="0">
              <a:spcBef>
                <a:spcPts val="0"/>
              </a:spcBef>
              <a:spcAft>
                <a:spcPts val="0"/>
              </a:spcAft>
              <a:buClr>
                <a:srgbClr val="000000"/>
              </a:buClr>
              <a:buSzPts val="1700"/>
              <a:buFont typeface="Arial"/>
              <a:buChar char="●"/>
            </a:pPr>
            <a:r>
              <a:rPr lang="es-419" sz="1700" b="1">
                <a:solidFill>
                  <a:srgbClr val="000000"/>
                </a:solidFill>
                <a:latin typeface="Arial"/>
                <a:ea typeface="Arial"/>
                <a:cs typeface="Arial"/>
                <a:sym typeface="Arial"/>
              </a:rPr>
              <a:t>React.js</a:t>
            </a:r>
            <a:r>
              <a:rPr lang="es-419" sz="1700">
                <a:solidFill>
                  <a:srgbClr val="000000"/>
                </a:solidFill>
                <a:latin typeface="Arial"/>
                <a:ea typeface="Arial"/>
                <a:cs typeface="Arial"/>
                <a:sym typeface="Arial"/>
              </a:rPr>
              <a:t>: interfaces dinámicas e interactivas.</a:t>
            </a:r>
            <a:br>
              <a:rPr lang="es-419" sz="1700">
                <a:solidFill>
                  <a:srgbClr val="000000"/>
                </a:solidFill>
                <a:latin typeface="Arial"/>
                <a:ea typeface="Arial"/>
                <a:cs typeface="Arial"/>
                <a:sym typeface="Arial"/>
              </a:rPr>
            </a:br>
            <a:endParaRPr sz="1700">
              <a:solidFill>
                <a:srgbClr val="000000"/>
              </a:solidFill>
              <a:latin typeface="Arial"/>
              <a:ea typeface="Arial"/>
              <a:cs typeface="Arial"/>
              <a:sym typeface="Arial"/>
            </a:endParaRPr>
          </a:p>
          <a:p>
            <a:pPr marL="457200" lvl="0" indent="-336550" algn="l" rtl="0">
              <a:spcBef>
                <a:spcPts val="0"/>
              </a:spcBef>
              <a:spcAft>
                <a:spcPts val="0"/>
              </a:spcAft>
              <a:buClr>
                <a:srgbClr val="000000"/>
              </a:buClr>
              <a:buSzPts val="1700"/>
              <a:buFont typeface="Arial"/>
              <a:buChar char="●"/>
            </a:pPr>
            <a:r>
              <a:rPr lang="es-419" sz="1700" b="1">
                <a:solidFill>
                  <a:srgbClr val="000000"/>
                </a:solidFill>
                <a:latin typeface="Arial"/>
                <a:ea typeface="Arial"/>
                <a:cs typeface="Arial"/>
                <a:sym typeface="Arial"/>
              </a:rPr>
              <a:t>Node.js + Express.js</a:t>
            </a:r>
            <a:r>
              <a:rPr lang="es-419" sz="1700">
                <a:solidFill>
                  <a:srgbClr val="000000"/>
                </a:solidFill>
                <a:latin typeface="Arial"/>
                <a:ea typeface="Arial"/>
                <a:cs typeface="Arial"/>
                <a:sym typeface="Arial"/>
              </a:rPr>
              <a:t>: backend ágil y eficiente.</a:t>
            </a:r>
            <a:br>
              <a:rPr lang="es-419" sz="1700">
                <a:solidFill>
                  <a:srgbClr val="000000"/>
                </a:solidFill>
                <a:latin typeface="Arial"/>
                <a:ea typeface="Arial"/>
                <a:cs typeface="Arial"/>
                <a:sym typeface="Arial"/>
              </a:rPr>
            </a:br>
            <a:endParaRPr sz="1700">
              <a:solidFill>
                <a:srgbClr val="000000"/>
              </a:solidFill>
              <a:latin typeface="Arial"/>
              <a:ea typeface="Arial"/>
              <a:cs typeface="Arial"/>
              <a:sym typeface="Arial"/>
            </a:endParaRPr>
          </a:p>
          <a:p>
            <a:pPr marL="457200" lvl="0" indent="-336550" algn="l" rtl="0">
              <a:spcBef>
                <a:spcPts val="0"/>
              </a:spcBef>
              <a:spcAft>
                <a:spcPts val="0"/>
              </a:spcAft>
              <a:buClr>
                <a:srgbClr val="000000"/>
              </a:buClr>
              <a:buSzPts val="1700"/>
              <a:buFont typeface="Arial"/>
              <a:buChar char="●"/>
            </a:pPr>
            <a:r>
              <a:rPr lang="es-419" sz="1700" b="1">
                <a:solidFill>
                  <a:srgbClr val="000000"/>
                </a:solidFill>
                <a:latin typeface="Arial"/>
                <a:ea typeface="Arial"/>
                <a:cs typeface="Arial"/>
                <a:sym typeface="Arial"/>
              </a:rPr>
              <a:t>MongoDB</a:t>
            </a:r>
            <a:r>
              <a:rPr lang="es-419" sz="1700">
                <a:solidFill>
                  <a:srgbClr val="000000"/>
                </a:solidFill>
                <a:latin typeface="Arial"/>
                <a:ea typeface="Arial"/>
                <a:cs typeface="Arial"/>
                <a:sym typeface="Arial"/>
              </a:rPr>
              <a:t>: base de datos flexible y escalable.</a:t>
            </a:r>
            <a:br>
              <a:rPr lang="es-419" sz="1700">
                <a:solidFill>
                  <a:srgbClr val="000000"/>
                </a:solidFill>
                <a:latin typeface="Arial"/>
                <a:ea typeface="Arial"/>
                <a:cs typeface="Arial"/>
                <a:sym typeface="Arial"/>
              </a:rPr>
            </a:br>
            <a:r>
              <a:rPr lang="es-419" sz="1700">
                <a:solidFill>
                  <a:srgbClr val="000000"/>
                </a:solidFill>
                <a:latin typeface="Arial"/>
                <a:ea typeface="Arial"/>
                <a:cs typeface="Arial"/>
                <a:sym typeface="Arial"/>
              </a:rPr>
              <a:t> Ideal para proyectos de IA con alta demanda de datos en tiempo real.</a:t>
            </a:r>
            <a:endParaRPr sz="1700">
              <a:solidFill>
                <a:srgbClr val="000000"/>
              </a:solidFill>
              <a:latin typeface="Arial"/>
              <a:ea typeface="Arial"/>
              <a:cs typeface="Arial"/>
              <a:sym typeface="Arial"/>
            </a:endParaRPr>
          </a:p>
          <a:p>
            <a:pPr marL="0" lvl="0" indent="0" algn="l" rtl="0">
              <a:spcBef>
                <a:spcPts val="1400"/>
              </a:spcBef>
              <a:spcAft>
                <a:spcPts val="400"/>
              </a:spcAft>
              <a:buNone/>
            </a:pPr>
            <a:endParaRPr sz="2400" b="1">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 calcmode="lin" valueType="num">
                                      <p:cBhvr additive="base">
                                        <p:cTn id="7" dur="800"/>
                                        <p:tgtEl>
                                          <p:spTgt spid="93"/>
                                        </p:tgtEl>
                                        <p:attrNameLst>
                                          <p:attrName>ppt_w</p:attrName>
                                        </p:attrNameLst>
                                      </p:cBhvr>
                                      <p:tavLst>
                                        <p:tav tm="0">
                                          <p:val>
                                            <p:strVal val="0"/>
                                          </p:val>
                                        </p:tav>
                                        <p:tav tm="100000">
                                          <p:val>
                                            <p:strVal val="#ppt_w"/>
                                          </p:val>
                                        </p:tav>
                                      </p:tavLst>
                                    </p:anim>
                                    <p:anim calcmode="lin" valueType="num">
                                      <p:cBhvr additive="base">
                                        <p:cTn id="8" dur="800"/>
                                        <p:tgtEl>
                                          <p:spTgt spid="93"/>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94"/>
                                        </p:tgtEl>
                                        <p:attrNameLst>
                                          <p:attrName>style.visibility</p:attrName>
                                        </p:attrNameLst>
                                      </p:cBhvr>
                                      <p:to>
                                        <p:strVal val="visible"/>
                                      </p:to>
                                    </p:set>
                                    <p:anim calcmode="lin" valueType="num">
                                      <p:cBhvr additive="base">
                                        <p:cTn id="13" dur="1000"/>
                                        <p:tgtEl>
                                          <p:spTgt spid="94"/>
                                        </p:tgtEl>
                                        <p:attrNameLst>
                                          <p:attrName>ppt_w</p:attrName>
                                        </p:attrNameLst>
                                      </p:cBhvr>
                                      <p:tavLst>
                                        <p:tav tm="0">
                                          <p:val>
                                            <p:strVal val="0"/>
                                          </p:val>
                                        </p:tav>
                                        <p:tav tm="100000">
                                          <p:val>
                                            <p:strVal val="#ppt_w"/>
                                          </p:val>
                                        </p:tav>
                                      </p:tavLst>
                                    </p:anim>
                                    <p:anim calcmode="lin" valueType="num">
                                      <p:cBhvr additive="base">
                                        <p:cTn id="14" dur="1000"/>
                                        <p:tgtEl>
                                          <p:spTgt spid="9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471900" y="164850"/>
            <a:ext cx="8222100" cy="1447640"/>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1400"/>
              </a:spcBef>
              <a:spcAft>
                <a:spcPts val="400"/>
              </a:spcAft>
              <a:buNone/>
            </a:pPr>
            <a:r>
              <a:rPr lang="es-419" sz="4000" b="1" dirty="0"/>
              <a:t>Hugging Face: Plataforma de Código Abierto</a:t>
            </a:r>
            <a:endParaRPr sz="4000" b="1"/>
          </a:p>
        </p:txBody>
      </p:sp>
      <p:sp>
        <p:nvSpPr>
          <p:cNvPr id="100" name="Google Shape;100;p18"/>
          <p:cNvSpPr txBox="1">
            <a:spLocks noGrp="1"/>
          </p:cNvSpPr>
          <p:nvPr>
            <p:ph type="body" idx="1"/>
          </p:nvPr>
        </p:nvSpPr>
        <p:spPr>
          <a:xfrm>
            <a:off x="471900" y="1919075"/>
            <a:ext cx="8222100" cy="28617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rmAutofit fontScale="32500" lnSpcReduction="20000"/>
          </a:bodyPr>
          <a:lstStyle/>
          <a:p>
            <a:pPr marL="0" lvl="0" indent="0" algn="l" rtl="0">
              <a:spcBef>
                <a:spcPts val="1200"/>
              </a:spcBef>
              <a:spcAft>
                <a:spcPts val="0"/>
              </a:spcAft>
              <a:buNone/>
            </a:pPr>
            <a:r>
              <a:rPr lang="es-419" sz="6200" dirty="0">
                <a:solidFill>
                  <a:srgbClr val="000000"/>
                </a:solidFill>
                <a:latin typeface="Arial"/>
                <a:ea typeface="Arial"/>
                <a:cs typeface="Arial"/>
                <a:sym typeface="Arial"/>
              </a:rPr>
              <a:t>Hugging Face es una plataforma líder en IA abierta desde 2016.</a:t>
            </a:r>
            <a:endParaRPr sz="6200">
              <a:solidFill>
                <a:srgbClr val="000000"/>
              </a:solidFill>
              <a:latin typeface="Arial"/>
              <a:ea typeface="Arial"/>
              <a:cs typeface="Arial"/>
              <a:sym typeface="Arial"/>
            </a:endParaRPr>
          </a:p>
          <a:p>
            <a:pPr marL="0" lvl="0" indent="0" algn="l" rtl="0">
              <a:spcBef>
                <a:spcPts val="1200"/>
              </a:spcBef>
              <a:spcAft>
                <a:spcPts val="0"/>
              </a:spcAft>
              <a:buNone/>
            </a:pPr>
            <a:r>
              <a:rPr lang="es-419" sz="6200" dirty="0">
                <a:solidFill>
                  <a:srgbClr val="000000"/>
                </a:solidFill>
                <a:latin typeface="Arial"/>
                <a:ea typeface="Arial"/>
                <a:cs typeface="Arial"/>
                <a:sym typeface="Arial"/>
              </a:rPr>
              <a:t>Ofrece modelos preentrenados accesibles vía APIs y librerías como </a:t>
            </a:r>
            <a:r>
              <a:rPr lang="es-419" sz="6200" dirty="0">
                <a:solidFill>
                  <a:srgbClr val="188038"/>
                </a:solidFill>
                <a:latin typeface="Roboto Mono"/>
                <a:ea typeface="Roboto Mono"/>
                <a:cs typeface="Roboto Mono"/>
                <a:sym typeface="Roboto Mono"/>
              </a:rPr>
              <a:t>transformers.js</a:t>
            </a:r>
            <a:r>
              <a:rPr lang="es-419" sz="6200" dirty="0">
                <a:solidFill>
                  <a:srgbClr val="000000"/>
                </a:solidFill>
                <a:latin typeface="Arial"/>
                <a:ea typeface="Arial"/>
                <a:cs typeface="Arial"/>
                <a:sym typeface="Arial"/>
              </a:rPr>
              <a:t> y </a:t>
            </a:r>
            <a:r>
              <a:rPr lang="es-419" sz="6200" dirty="0">
                <a:solidFill>
                  <a:srgbClr val="188038"/>
                </a:solidFill>
                <a:latin typeface="Roboto Mono"/>
                <a:ea typeface="Roboto Mono"/>
                <a:cs typeface="Roboto Mono"/>
                <a:sym typeface="Roboto Mono"/>
              </a:rPr>
              <a:t>diffusers</a:t>
            </a:r>
            <a:r>
              <a:rPr lang="es-419" sz="6200" dirty="0">
                <a:solidFill>
                  <a:srgbClr val="000000"/>
                </a:solidFill>
                <a:latin typeface="Arial"/>
                <a:ea typeface="Arial"/>
                <a:cs typeface="Arial"/>
                <a:sym typeface="Arial"/>
              </a:rPr>
              <a:t>.</a:t>
            </a:r>
            <a:endParaRPr sz="6200">
              <a:solidFill>
                <a:srgbClr val="000000"/>
              </a:solidFill>
              <a:latin typeface="Arial"/>
              <a:ea typeface="Arial"/>
              <a:cs typeface="Arial"/>
              <a:sym typeface="Arial"/>
            </a:endParaRPr>
          </a:p>
          <a:p>
            <a:pPr marL="0" lvl="0" indent="0" algn="l" rtl="0">
              <a:spcBef>
                <a:spcPts val="1200"/>
              </a:spcBef>
              <a:spcAft>
                <a:spcPts val="0"/>
              </a:spcAft>
              <a:buNone/>
            </a:pPr>
            <a:r>
              <a:rPr lang="es-419" sz="6200" dirty="0">
                <a:solidFill>
                  <a:srgbClr val="000000"/>
                </a:solidFill>
                <a:latin typeface="Arial"/>
                <a:ea typeface="Arial"/>
                <a:cs typeface="Arial"/>
                <a:sym typeface="Arial"/>
              </a:rPr>
              <a:t>Facilita la generación de imágenes sin entrenar desde cero.</a:t>
            </a:r>
            <a:endParaRPr sz="6200">
              <a:solidFill>
                <a:srgbClr val="000000"/>
              </a:solidFill>
              <a:latin typeface="Arial"/>
              <a:ea typeface="Arial"/>
              <a:cs typeface="Arial"/>
              <a:sym typeface="Arial"/>
            </a:endParaRPr>
          </a:p>
          <a:p>
            <a:pPr marL="0" lvl="0" indent="0" algn="l" rtl="0">
              <a:spcBef>
                <a:spcPts val="1200"/>
              </a:spcBef>
              <a:spcAft>
                <a:spcPts val="0"/>
              </a:spcAft>
              <a:buNone/>
            </a:pPr>
            <a:r>
              <a:rPr lang="es-419" sz="6200" dirty="0">
                <a:solidFill>
                  <a:srgbClr val="000000"/>
                </a:solidFill>
                <a:latin typeface="Arial"/>
                <a:ea typeface="Arial"/>
                <a:cs typeface="Arial"/>
                <a:sym typeface="Arial"/>
              </a:rPr>
              <a:t>Su enfoque open source permite usar, modificar y compartir libremente, impulsando la colaboración y el avance de la IA.</a:t>
            </a:r>
            <a:endParaRPr sz="6200" b="1">
              <a:solidFill>
                <a:srgbClr val="000000"/>
              </a:solidFill>
            </a:endParaRPr>
          </a:p>
          <a:p>
            <a:pPr marL="0" lvl="0" indent="0" algn="l" rtl="0">
              <a:spcBef>
                <a:spcPts val="1200"/>
              </a:spcBef>
              <a:spcAft>
                <a:spcPts val="1200"/>
              </a:spcAft>
              <a:buNone/>
            </a:pPr>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anim calcmode="lin" valueType="num">
                                      <p:cBhvr additive="base">
                                        <p:cTn id="7" dur="1000"/>
                                        <p:tgtEl>
                                          <p:spTgt spid="99"/>
                                        </p:tgtEl>
                                        <p:attrNameLst>
                                          <p:attrName>ppt_w</p:attrName>
                                        </p:attrNameLst>
                                      </p:cBhvr>
                                      <p:tavLst>
                                        <p:tav tm="0">
                                          <p:val>
                                            <p:strVal val="0"/>
                                          </p:val>
                                        </p:tav>
                                        <p:tav tm="100000">
                                          <p:val>
                                            <p:strVal val="#ppt_w"/>
                                          </p:val>
                                        </p:tav>
                                      </p:tavLst>
                                    </p:anim>
                                    <p:anim calcmode="lin" valueType="num">
                                      <p:cBhvr additive="base">
                                        <p:cTn id="8" dur="1000"/>
                                        <p:tgtEl>
                                          <p:spTgt spid="9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00"/>
                                        </p:tgtEl>
                                        <p:attrNameLst>
                                          <p:attrName>style.visibility</p:attrName>
                                        </p:attrNameLst>
                                      </p:cBhvr>
                                      <p:to>
                                        <p:strVal val="visible"/>
                                      </p:to>
                                    </p:set>
                                    <p:anim calcmode="lin" valueType="num">
                                      <p:cBhvr additive="base">
                                        <p:cTn id="13" dur="1000"/>
                                        <p:tgtEl>
                                          <p:spTgt spid="100"/>
                                        </p:tgtEl>
                                        <p:attrNameLst>
                                          <p:attrName>ppt_w</p:attrName>
                                        </p:attrNameLst>
                                      </p:cBhvr>
                                      <p:tavLst>
                                        <p:tav tm="0">
                                          <p:val>
                                            <p:strVal val="0"/>
                                          </p:val>
                                        </p:tav>
                                        <p:tav tm="100000">
                                          <p:val>
                                            <p:strVal val="#ppt_w"/>
                                          </p:val>
                                        </p:tav>
                                      </p:tavLst>
                                    </p:anim>
                                    <p:anim calcmode="lin" valueType="num">
                                      <p:cBhvr additive="base">
                                        <p:cTn id="14" dur="1000"/>
                                        <p:tgtEl>
                                          <p:spTgt spid="10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a:spLocks noGrp="1"/>
          </p:cNvSpPr>
          <p:nvPr>
            <p:ph type="title"/>
          </p:nvPr>
        </p:nvSpPr>
        <p:spPr>
          <a:xfrm>
            <a:off x="471900" y="686700"/>
            <a:ext cx="8222100" cy="819900"/>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1400"/>
              </a:spcBef>
              <a:spcAft>
                <a:spcPts val="400"/>
              </a:spcAft>
              <a:buNone/>
            </a:pPr>
            <a:r>
              <a:rPr lang="es-419" sz="3600" b="1"/>
              <a:t>Fundamentación Tecnológica</a:t>
            </a:r>
            <a:endParaRPr sz="3600" b="1"/>
          </a:p>
        </p:txBody>
      </p:sp>
      <p:sp>
        <p:nvSpPr>
          <p:cNvPr id="106" name="Google Shape;106;p19"/>
          <p:cNvSpPr txBox="1">
            <a:spLocks noGrp="1"/>
          </p:cNvSpPr>
          <p:nvPr>
            <p:ph type="body" idx="1"/>
          </p:nvPr>
        </p:nvSpPr>
        <p:spPr>
          <a:xfrm>
            <a:off x="471900" y="1877961"/>
            <a:ext cx="8222100" cy="3177614"/>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rmAutofit fontScale="25000" lnSpcReduction="20000"/>
          </a:bodyPr>
          <a:lstStyle/>
          <a:p>
            <a:pPr marL="0" lvl="0" indent="0" algn="l" rtl="0">
              <a:spcBef>
                <a:spcPts val="1200"/>
              </a:spcBef>
              <a:spcAft>
                <a:spcPts val="0"/>
              </a:spcAft>
              <a:buNone/>
            </a:pPr>
            <a:r>
              <a:rPr lang="es-419" sz="7600" dirty="0">
                <a:solidFill>
                  <a:srgbClr val="000000"/>
                </a:solidFill>
                <a:latin typeface="Arial"/>
                <a:ea typeface="Arial"/>
                <a:cs typeface="Arial"/>
                <a:sym typeface="Arial"/>
              </a:rPr>
              <a:t>El proyecto integra herramientas modernas para un sistema funcional:</a:t>
            </a:r>
            <a:endParaRPr sz="7600">
              <a:solidFill>
                <a:srgbClr val="000000"/>
              </a:solidFill>
              <a:latin typeface="Arial"/>
              <a:ea typeface="Arial"/>
              <a:cs typeface="Arial"/>
              <a:sym typeface="Arial"/>
            </a:endParaRPr>
          </a:p>
          <a:p>
            <a:pPr marL="457200" lvl="0" indent="-349250" algn="l" rtl="0">
              <a:spcBef>
                <a:spcPts val="1200"/>
              </a:spcBef>
              <a:spcAft>
                <a:spcPts val="0"/>
              </a:spcAft>
              <a:buClr>
                <a:srgbClr val="000000"/>
              </a:buClr>
              <a:buSzPct val="100000"/>
              <a:buFont typeface="Arial"/>
              <a:buChar char="●"/>
            </a:pPr>
            <a:r>
              <a:rPr lang="es-419" sz="7600" b="1" dirty="0">
                <a:solidFill>
                  <a:srgbClr val="000000"/>
                </a:solidFill>
                <a:latin typeface="Arial"/>
                <a:ea typeface="Arial"/>
                <a:cs typeface="Arial"/>
                <a:sym typeface="Arial"/>
              </a:rPr>
              <a:t>React.js</a:t>
            </a:r>
            <a:r>
              <a:rPr lang="es-419" sz="7600" dirty="0">
                <a:solidFill>
                  <a:srgbClr val="000000"/>
                </a:solidFill>
                <a:latin typeface="Arial"/>
                <a:ea typeface="Arial"/>
                <a:cs typeface="Arial"/>
                <a:sym typeface="Arial"/>
              </a:rPr>
              <a:t>: entrada de texto y visualización de imágenes.</a:t>
            </a:r>
            <a:br>
              <a:rPr lang="es-419" sz="7600" dirty="0">
                <a:solidFill>
                  <a:srgbClr val="000000"/>
                </a:solidFill>
                <a:latin typeface="Arial"/>
                <a:ea typeface="Arial"/>
                <a:cs typeface="Arial"/>
                <a:sym typeface="Arial"/>
              </a:rPr>
            </a:br>
            <a:endParaRPr sz="76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ct val="100000"/>
              <a:buFont typeface="Arial"/>
              <a:buChar char="●"/>
            </a:pPr>
            <a:r>
              <a:rPr lang="es-419" sz="7600" b="1" dirty="0">
                <a:solidFill>
                  <a:srgbClr val="000000"/>
                </a:solidFill>
                <a:latin typeface="Arial"/>
                <a:ea typeface="Arial"/>
                <a:cs typeface="Arial"/>
                <a:sym typeface="Arial"/>
              </a:rPr>
              <a:t>Node.js + Express</a:t>
            </a:r>
            <a:r>
              <a:rPr lang="es-419" sz="7600" dirty="0">
                <a:solidFill>
                  <a:srgbClr val="000000"/>
                </a:solidFill>
                <a:latin typeface="Arial"/>
                <a:ea typeface="Arial"/>
                <a:cs typeface="Arial"/>
                <a:sym typeface="Arial"/>
              </a:rPr>
              <a:t>: gestión del backend y conexión con la IA.</a:t>
            </a:r>
            <a:br>
              <a:rPr lang="es-419" sz="7600" dirty="0">
                <a:solidFill>
                  <a:srgbClr val="000000"/>
                </a:solidFill>
                <a:latin typeface="Arial"/>
                <a:ea typeface="Arial"/>
                <a:cs typeface="Arial"/>
                <a:sym typeface="Arial"/>
              </a:rPr>
            </a:br>
            <a:endParaRPr sz="76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ct val="100000"/>
              <a:buFont typeface="Arial"/>
              <a:buChar char="●"/>
            </a:pPr>
            <a:r>
              <a:rPr lang="es-419" sz="7600" b="1" dirty="0">
                <a:solidFill>
                  <a:srgbClr val="000000"/>
                </a:solidFill>
                <a:latin typeface="Arial"/>
                <a:ea typeface="Arial"/>
                <a:cs typeface="Arial"/>
                <a:sym typeface="Arial"/>
              </a:rPr>
              <a:t>MongoDB</a:t>
            </a:r>
            <a:r>
              <a:rPr lang="es-419" sz="7600" dirty="0">
                <a:solidFill>
                  <a:srgbClr val="000000"/>
                </a:solidFill>
                <a:latin typeface="Arial"/>
                <a:ea typeface="Arial"/>
                <a:cs typeface="Arial"/>
                <a:sym typeface="Arial"/>
              </a:rPr>
              <a:t>: almacenamiento de imágenes y descripciones.</a:t>
            </a:r>
            <a:br>
              <a:rPr lang="es-419" sz="7600" dirty="0">
                <a:solidFill>
                  <a:srgbClr val="000000"/>
                </a:solidFill>
                <a:latin typeface="Arial"/>
                <a:ea typeface="Arial"/>
                <a:cs typeface="Arial"/>
                <a:sym typeface="Arial"/>
              </a:rPr>
            </a:br>
            <a:endParaRPr sz="76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ct val="100000"/>
              <a:buFont typeface="Arial"/>
              <a:buChar char="●"/>
            </a:pPr>
            <a:r>
              <a:rPr lang="es-419" sz="7600" b="1" dirty="0">
                <a:solidFill>
                  <a:srgbClr val="000000"/>
                </a:solidFill>
                <a:latin typeface="Arial"/>
                <a:ea typeface="Arial"/>
                <a:cs typeface="Arial"/>
                <a:sym typeface="Arial"/>
              </a:rPr>
              <a:t>Hugging Face</a:t>
            </a:r>
            <a:r>
              <a:rPr lang="es-419" sz="7600" dirty="0">
                <a:solidFill>
                  <a:srgbClr val="000000"/>
                </a:solidFill>
                <a:latin typeface="Arial"/>
                <a:ea typeface="Arial"/>
                <a:cs typeface="Arial"/>
                <a:sym typeface="Arial"/>
              </a:rPr>
              <a:t>: generación de imágenes desde texto.</a:t>
            </a:r>
            <a:br>
              <a:rPr lang="es-419" sz="7600" dirty="0">
                <a:solidFill>
                  <a:srgbClr val="000000"/>
                </a:solidFill>
                <a:latin typeface="Arial"/>
                <a:ea typeface="Arial"/>
                <a:cs typeface="Arial"/>
                <a:sym typeface="Arial"/>
              </a:rPr>
            </a:br>
            <a:endParaRPr sz="76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ct val="100000"/>
              <a:buFont typeface="Arial"/>
              <a:buChar char="●"/>
            </a:pPr>
            <a:r>
              <a:rPr lang="es-419" sz="7600" b="1" dirty="0">
                <a:solidFill>
                  <a:srgbClr val="000000"/>
                </a:solidFill>
                <a:latin typeface="Arial"/>
                <a:ea typeface="Arial"/>
                <a:cs typeface="Arial"/>
                <a:sym typeface="Arial"/>
              </a:rPr>
              <a:t>Vercel / Render</a:t>
            </a:r>
            <a:r>
              <a:rPr lang="es-419" sz="7600" dirty="0">
                <a:solidFill>
                  <a:srgbClr val="000000"/>
                </a:solidFill>
                <a:latin typeface="Arial"/>
                <a:ea typeface="Arial"/>
                <a:cs typeface="Arial"/>
                <a:sym typeface="Arial"/>
              </a:rPr>
              <a:t>: despliegue y acceso en línea.</a:t>
            </a:r>
            <a:endParaRPr sz="7600">
              <a:solidFill>
                <a:srgbClr val="000000"/>
              </a:solidFill>
              <a:latin typeface="Arial"/>
              <a:ea typeface="Arial"/>
              <a:cs typeface="Arial"/>
              <a:sym typeface="Arial"/>
            </a:endParaRPr>
          </a:p>
          <a:p>
            <a:pPr marL="0" lvl="0" indent="0" algn="l" rtl="0">
              <a:spcBef>
                <a:spcPts val="1200"/>
              </a:spcBef>
              <a:spcAft>
                <a:spcPts val="0"/>
              </a:spcAft>
              <a:buNone/>
            </a:pPr>
            <a:endParaRPr sz="4800" b="1">
              <a:solidFill>
                <a:srgbClr val="000000"/>
              </a:solidFill>
            </a:endParaRPr>
          </a:p>
          <a:p>
            <a:pPr marL="0" lvl="0" indent="0" algn="l" rtl="0">
              <a:spcBef>
                <a:spcPts val="1200"/>
              </a:spcBef>
              <a:spcAft>
                <a:spcPts val="1200"/>
              </a:spcAft>
              <a:buNone/>
            </a:pPr>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 calcmode="lin" valueType="num">
                                      <p:cBhvr additive="base">
                                        <p:cTn id="7" dur="1000"/>
                                        <p:tgtEl>
                                          <p:spTgt spid="105"/>
                                        </p:tgtEl>
                                        <p:attrNameLst>
                                          <p:attrName>ppt_w</p:attrName>
                                        </p:attrNameLst>
                                      </p:cBhvr>
                                      <p:tavLst>
                                        <p:tav tm="0">
                                          <p:val>
                                            <p:strVal val="0"/>
                                          </p:val>
                                        </p:tav>
                                        <p:tav tm="100000">
                                          <p:val>
                                            <p:strVal val="#ppt_w"/>
                                          </p:val>
                                        </p:tav>
                                      </p:tavLst>
                                    </p:anim>
                                    <p:anim calcmode="lin" valueType="num">
                                      <p:cBhvr additive="base">
                                        <p:cTn id="8" dur="1000"/>
                                        <p:tgtEl>
                                          <p:spTgt spid="105"/>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06"/>
                                        </p:tgtEl>
                                        <p:attrNameLst>
                                          <p:attrName>style.visibility</p:attrName>
                                        </p:attrNameLst>
                                      </p:cBhvr>
                                      <p:to>
                                        <p:strVal val="visible"/>
                                      </p:to>
                                    </p:set>
                                    <p:anim calcmode="lin" valueType="num">
                                      <p:cBhvr additive="base">
                                        <p:cTn id="13" dur="1000"/>
                                        <p:tgtEl>
                                          <p:spTgt spid="106"/>
                                        </p:tgtEl>
                                        <p:attrNameLst>
                                          <p:attrName>ppt_w</p:attrName>
                                        </p:attrNameLst>
                                      </p:cBhvr>
                                      <p:tavLst>
                                        <p:tav tm="0">
                                          <p:val>
                                            <p:strVal val="0"/>
                                          </p:val>
                                        </p:tav>
                                        <p:tav tm="100000">
                                          <p:val>
                                            <p:strVal val="#ppt_w"/>
                                          </p:val>
                                        </p:tav>
                                      </p:tavLst>
                                    </p:anim>
                                    <p:anim calcmode="lin" valueType="num">
                                      <p:cBhvr additive="base">
                                        <p:cTn id="14" dur="1000"/>
                                        <p:tgtEl>
                                          <p:spTgt spid="10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a:spLocks noGrp="1"/>
          </p:cNvSpPr>
          <p:nvPr>
            <p:ph type="title"/>
          </p:nvPr>
        </p:nvSpPr>
        <p:spPr>
          <a:xfrm>
            <a:off x="471900" y="109900"/>
            <a:ext cx="8222100" cy="1502100"/>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rmAutofit fontScale="90000"/>
          </a:bodyPr>
          <a:lstStyle/>
          <a:p>
            <a:pPr marL="0" lvl="0" indent="0" algn="l" rtl="0">
              <a:lnSpc>
                <a:spcPct val="115000"/>
              </a:lnSpc>
              <a:spcBef>
                <a:spcPts val="1400"/>
              </a:spcBef>
              <a:spcAft>
                <a:spcPts val="0"/>
              </a:spcAft>
              <a:buNone/>
            </a:pPr>
            <a:endParaRPr sz="4800"/>
          </a:p>
          <a:p>
            <a:pPr marL="0" lvl="0" indent="0" algn="ctr" rtl="0">
              <a:spcBef>
                <a:spcPts val="400"/>
              </a:spcBef>
              <a:spcAft>
                <a:spcPts val="0"/>
              </a:spcAft>
              <a:buNone/>
            </a:pPr>
            <a:r>
              <a:rPr lang="es-419" sz="4800" b="1"/>
              <a:t>Fundamentación Práctica y Social</a:t>
            </a:r>
            <a:endParaRPr sz="4800" b="1"/>
          </a:p>
        </p:txBody>
      </p:sp>
      <p:sp>
        <p:nvSpPr>
          <p:cNvPr id="112" name="Google Shape;112;p20"/>
          <p:cNvSpPr txBox="1">
            <a:spLocks noGrp="1"/>
          </p:cNvSpPr>
          <p:nvPr>
            <p:ph type="body" idx="1"/>
          </p:nvPr>
        </p:nvSpPr>
        <p:spPr>
          <a:xfrm>
            <a:off x="471900" y="1919075"/>
            <a:ext cx="8222100" cy="297739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rmAutofit fontScale="25000" lnSpcReduction="20000"/>
          </a:bodyPr>
          <a:lstStyle/>
          <a:p>
            <a:pPr marL="0" lvl="0" indent="0" algn="l" rtl="0">
              <a:spcBef>
                <a:spcPts val="1200"/>
              </a:spcBef>
              <a:spcAft>
                <a:spcPts val="0"/>
              </a:spcAft>
              <a:buNone/>
            </a:pPr>
            <a:r>
              <a:rPr lang="es-419" sz="7600" dirty="0">
                <a:solidFill>
                  <a:srgbClr val="000000"/>
                </a:solidFill>
                <a:latin typeface="Arial"/>
                <a:ea typeface="Arial"/>
                <a:cs typeface="Arial"/>
                <a:sym typeface="Arial"/>
              </a:rPr>
              <a:t>El proyecto tiene aplicaciones en múltiples áreas:</a:t>
            </a:r>
            <a:endParaRPr sz="7600">
              <a:solidFill>
                <a:srgbClr val="000000"/>
              </a:solidFill>
              <a:latin typeface="Arial"/>
              <a:ea typeface="Arial"/>
              <a:cs typeface="Arial"/>
              <a:sym typeface="Arial"/>
            </a:endParaRPr>
          </a:p>
          <a:p>
            <a:pPr marL="457200" lvl="0" indent="-349250" algn="l" rtl="0">
              <a:spcBef>
                <a:spcPts val="1200"/>
              </a:spcBef>
              <a:spcAft>
                <a:spcPts val="0"/>
              </a:spcAft>
              <a:buClr>
                <a:srgbClr val="000000"/>
              </a:buClr>
              <a:buSzPct val="100000"/>
              <a:buFont typeface="Arial"/>
              <a:buChar char="●"/>
            </a:pPr>
            <a:r>
              <a:rPr lang="es-419" sz="7600" b="1" dirty="0">
                <a:solidFill>
                  <a:srgbClr val="000000"/>
                </a:solidFill>
                <a:latin typeface="Arial"/>
                <a:ea typeface="Arial"/>
                <a:cs typeface="Arial"/>
                <a:sym typeface="Arial"/>
              </a:rPr>
              <a:t>Diseño y arte</a:t>
            </a:r>
            <a:r>
              <a:rPr lang="es-419" sz="7600" dirty="0">
                <a:solidFill>
                  <a:srgbClr val="000000"/>
                </a:solidFill>
                <a:latin typeface="Arial"/>
                <a:ea typeface="Arial"/>
                <a:cs typeface="Arial"/>
                <a:sym typeface="Arial"/>
              </a:rPr>
              <a:t>: crea ilustraciones sin software avanzado.</a:t>
            </a:r>
            <a:br>
              <a:rPr lang="es-419" sz="7600" dirty="0">
                <a:solidFill>
                  <a:srgbClr val="000000"/>
                </a:solidFill>
                <a:latin typeface="Arial"/>
                <a:ea typeface="Arial"/>
                <a:cs typeface="Arial"/>
                <a:sym typeface="Arial"/>
              </a:rPr>
            </a:br>
            <a:endParaRPr sz="76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ct val="100000"/>
              <a:buFont typeface="Arial"/>
              <a:buChar char="●"/>
            </a:pPr>
            <a:r>
              <a:rPr lang="es-419" sz="7600" b="1" dirty="0">
                <a:solidFill>
                  <a:srgbClr val="000000"/>
                </a:solidFill>
                <a:latin typeface="Arial"/>
                <a:ea typeface="Arial"/>
                <a:cs typeface="Arial"/>
                <a:sym typeface="Arial"/>
              </a:rPr>
              <a:t>Marketing</a:t>
            </a:r>
            <a:r>
              <a:rPr lang="es-419" sz="7600" dirty="0">
                <a:solidFill>
                  <a:srgbClr val="000000"/>
                </a:solidFill>
                <a:latin typeface="Arial"/>
                <a:ea typeface="Arial"/>
                <a:cs typeface="Arial"/>
                <a:sym typeface="Arial"/>
              </a:rPr>
              <a:t>: genera imágenes personalizadas para campañas.</a:t>
            </a:r>
            <a:br>
              <a:rPr lang="es-419" sz="7600" dirty="0">
                <a:solidFill>
                  <a:srgbClr val="000000"/>
                </a:solidFill>
                <a:latin typeface="Arial"/>
                <a:ea typeface="Arial"/>
                <a:cs typeface="Arial"/>
                <a:sym typeface="Arial"/>
              </a:rPr>
            </a:br>
            <a:endParaRPr sz="76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ct val="100000"/>
              <a:buFont typeface="Arial"/>
              <a:buChar char="●"/>
            </a:pPr>
            <a:r>
              <a:rPr lang="es-419" sz="7600" b="1" dirty="0">
                <a:solidFill>
                  <a:srgbClr val="000000"/>
                </a:solidFill>
                <a:latin typeface="Arial"/>
                <a:ea typeface="Arial"/>
                <a:cs typeface="Arial"/>
                <a:sym typeface="Arial"/>
              </a:rPr>
              <a:t>Educación</a:t>
            </a:r>
            <a:r>
              <a:rPr lang="es-419" sz="7600" dirty="0">
                <a:solidFill>
                  <a:srgbClr val="000000"/>
                </a:solidFill>
                <a:latin typeface="Arial"/>
                <a:ea typeface="Arial"/>
                <a:cs typeface="Arial"/>
                <a:sym typeface="Arial"/>
              </a:rPr>
              <a:t>: fomenta el aprendizaje de IA y creatividad digital.</a:t>
            </a:r>
            <a:br>
              <a:rPr lang="es-419" sz="7600" dirty="0">
                <a:solidFill>
                  <a:srgbClr val="000000"/>
                </a:solidFill>
                <a:latin typeface="Arial"/>
                <a:ea typeface="Arial"/>
                <a:cs typeface="Arial"/>
                <a:sym typeface="Arial"/>
              </a:rPr>
            </a:br>
            <a:endParaRPr sz="76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ct val="100000"/>
              <a:buFont typeface="Arial"/>
              <a:buChar char="●"/>
            </a:pPr>
            <a:r>
              <a:rPr lang="es-419" sz="7600" b="1" dirty="0">
                <a:solidFill>
                  <a:srgbClr val="000000"/>
                </a:solidFill>
                <a:latin typeface="Arial"/>
                <a:ea typeface="Arial"/>
                <a:cs typeface="Arial"/>
                <a:sym typeface="Arial"/>
              </a:rPr>
              <a:t>Videojuegos</a:t>
            </a:r>
            <a:r>
              <a:rPr lang="es-419" sz="7600" dirty="0">
                <a:solidFill>
                  <a:srgbClr val="000000"/>
                </a:solidFill>
                <a:latin typeface="Arial"/>
                <a:ea typeface="Arial"/>
                <a:cs typeface="Arial"/>
                <a:sym typeface="Arial"/>
              </a:rPr>
              <a:t>: automatiza la creación de personajes, mundos y recursos visuales.</a:t>
            </a:r>
            <a:br>
              <a:rPr lang="es-419" sz="7600" dirty="0">
                <a:solidFill>
                  <a:srgbClr val="000000"/>
                </a:solidFill>
                <a:latin typeface="Arial"/>
                <a:ea typeface="Arial"/>
                <a:cs typeface="Arial"/>
                <a:sym typeface="Arial"/>
              </a:rPr>
            </a:br>
            <a:endParaRPr sz="7600">
              <a:solidFill>
                <a:srgbClr val="000000"/>
              </a:solidFill>
              <a:latin typeface="Arial"/>
              <a:ea typeface="Arial"/>
              <a:cs typeface="Arial"/>
              <a:sym typeface="Arial"/>
            </a:endParaRPr>
          </a:p>
          <a:p>
            <a:pPr marL="0" lvl="0" indent="0" algn="l" rtl="0">
              <a:spcBef>
                <a:spcPts val="1200"/>
              </a:spcBef>
              <a:spcAft>
                <a:spcPts val="1200"/>
              </a:spcAft>
              <a:buNone/>
            </a:pPr>
            <a:endParaRPr sz="3600" b="1">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anim calcmode="lin" valueType="num">
                                      <p:cBhvr additive="base">
                                        <p:cTn id="7" dur="1000"/>
                                        <p:tgtEl>
                                          <p:spTgt spid="111"/>
                                        </p:tgtEl>
                                        <p:attrNameLst>
                                          <p:attrName>ppt_w</p:attrName>
                                        </p:attrNameLst>
                                      </p:cBhvr>
                                      <p:tavLst>
                                        <p:tav tm="0">
                                          <p:val>
                                            <p:strVal val="0"/>
                                          </p:val>
                                        </p:tav>
                                        <p:tav tm="100000">
                                          <p:val>
                                            <p:strVal val="#ppt_w"/>
                                          </p:val>
                                        </p:tav>
                                      </p:tavLst>
                                    </p:anim>
                                    <p:anim calcmode="lin" valueType="num">
                                      <p:cBhvr additive="base">
                                        <p:cTn id="8" dur="1000"/>
                                        <p:tgtEl>
                                          <p:spTgt spid="11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12"/>
                                        </p:tgtEl>
                                        <p:attrNameLst>
                                          <p:attrName>style.visibility</p:attrName>
                                        </p:attrNameLst>
                                      </p:cBhvr>
                                      <p:to>
                                        <p:strVal val="visible"/>
                                      </p:to>
                                    </p:set>
                                    <p:anim calcmode="lin" valueType="num">
                                      <p:cBhvr additive="base">
                                        <p:cTn id="13" dur="1000"/>
                                        <p:tgtEl>
                                          <p:spTgt spid="112"/>
                                        </p:tgtEl>
                                        <p:attrNameLst>
                                          <p:attrName>ppt_w</p:attrName>
                                        </p:attrNameLst>
                                      </p:cBhvr>
                                      <p:tavLst>
                                        <p:tav tm="0">
                                          <p:val>
                                            <p:strVal val="0"/>
                                          </p:val>
                                        </p:tav>
                                        <p:tav tm="100000">
                                          <p:val>
                                            <p:strVal val="#ppt_w"/>
                                          </p:val>
                                        </p:tav>
                                      </p:tavLst>
                                    </p:anim>
                                    <p:anim calcmode="lin" valueType="num">
                                      <p:cBhvr additive="base">
                                        <p:cTn id="14" dur="1000"/>
                                        <p:tgtEl>
                                          <p:spTgt spid="11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a:spLocks noGrp="1"/>
          </p:cNvSpPr>
          <p:nvPr>
            <p:ph type="title"/>
          </p:nvPr>
        </p:nvSpPr>
        <p:spPr>
          <a:xfrm>
            <a:off x="471900" y="567825"/>
            <a:ext cx="8222100" cy="938400"/>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1400"/>
              </a:spcBef>
              <a:spcAft>
                <a:spcPts val="400"/>
              </a:spcAft>
              <a:buNone/>
            </a:pPr>
            <a:r>
              <a:rPr lang="es-419" sz="4800" b="1"/>
              <a:t>Encuadre Legal</a:t>
            </a:r>
            <a:endParaRPr sz="4800" b="1"/>
          </a:p>
        </p:txBody>
      </p:sp>
      <p:sp>
        <p:nvSpPr>
          <p:cNvPr id="118" name="Google Shape;118;p21"/>
          <p:cNvSpPr txBox="1">
            <a:spLocks noGrp="1"/>
          </p:cNvSpPr>
          <p:nvPr>
            <p:ph type="body" idx="1"/>
          </p:nvPr>
        </p:nvSpPr>
        <p:spPr>
          <a:xfrm>
            <a:off x="471900" y="1919075"/>
            <a:ext cx="8222100" cy="28311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1200"/>
              </a:spcBef>
              <a:spcAft>
                <a:spcPts val="0"/>
              </a:spcAft>
              <a:buNone/>
            </a:pPr>
            <a:r>
              <a:rPr lang="es-419" sz="1600">
                <a:solidFill>
                  <a:srgbClr val="000000"/>
                </a:solidFill>
                <a:latin typeface="Arial"/>
                <a:ea typeface="Arial"/>
                <a:cs typeface="Arial"/>
                <a:sym typeface="Arial"/>
              </a:rPr>
              <a:t>El proyecto debe respetar normas sobre IA, privacidad y derechos de autor:</a:t>
            </a:r>
            <a:endParaRPr sz="1600">
              <a:solidFill>
                <a:srgbClr val="000000"/>
              </a:solidFill>
              <a:latin typeface="Arial"/>
              <a:ea typeface="Arial"/>
              <a:cs typeface="Arial"/>
              <a:sym typeface="Arial"/>
            </a:endParaRPr>
          </a:p>
          <a:p>
            <a:pPr marL="457200" lvl="0" indent="-330200" algn="l" rtl="0">
              <a:spcBef>
                <a:spcPts val="1200"/>
              </a:spcBef>
              <a:spcAft>
                <a:spcPts val="0"/>
              </a:spcAft>
              <a:buClr>
                <a:srgbClr val="000000"/>
              </a:buClr>
              <a:buSzPts val="1600"/>
              <a:buFont typeface="Arial"/>
              <a:buChar char="●"/>
            </a:pPr>
            <a:r>
              <a:rPr lang="es-419" sz="1600" b="1">
                <a:solidFill>
                  <a:srgbClr val="000000"/>
                </a:solidFill>
                <a:latin typeface="Arial"/>
                <a:ea typeface="Arial"/>
                <a:cs typeface="Arial"/>
                <a:sym typeface="Arial"/>
              </a:rPr>
              <a:t>Licencias</a:t>
            </a:r>
            <a:r>
              <a:rPr lang="es-419" sz="1600">
                <a:solidFill>
                  <a:srgbClr val="000000"/>
                </a:solidFill>
                <a:latin typeface="Arial"/>
                <a:ea typeface="Arial"/>
                <a:cs typeface="Arial"/>
                <a:sym typeface="Arial"/>
              </a:rPr>
              <a:t>: cumplir con los términos de uso de Hugging Face o datasets usados.</a:t>
            </a:r>
            <a:br>
              <a:rPr lang="es-419" sz="1600">
                <a:solidFill>
                  <a:srgbClr val="000000"/>
                </a:solidFill>
                <a:latin typeface="Arial"/>
                <a:ea typeface="Arial"/>
                <a:cs typeface="Arial"/>
                <a:sym typeface="Arial"/>
              </a:rPr>
            </a:br>
            <a:endParaRPr sz="1600">
              <a:solidFill>
                <a:srgbClr val="000000"/>
              </a:solidFill>
              <a:latin typeface="Arial"/>
              <a:ea typeface="Arial"/>
              <a:cs typeface="Arial"/>
              <a:sym typeface="Arial"/>
            </a:endParaRPr>
          </a:p>
          <a:p>
            <a:pPr marL="457200" lvl="0" indent="-330200" algn="l" rtl="0">
              <a:spcBef>
                <a:spcPts val="0"/>
              </a:spcBef>
              <a:spcAft>
                <a:spcPts val="0"/>
              </a:spcAft>
              <a:buClr>
                <a:srgbClr val="000000"/>
              </a:buClr>
              <a:buSzPts val="1600"/>
              <a:buFont typeface="Arial"/>
              <a:buChar char="●"/>
            </a:pPr>
            <a:r>
              <a:rPr lang="es-419" sz="1600" b="1">
                <a:solidFill>
                  <a:srgbClr val="000000"/>
                </a:solidFill>
                <a:latin typeface="Arial"/>
                <a:ea typeface="Arial"/>
                <a:cs typeface="Arial"/>
                <a:sym typeface="Arial"/>
              </a:rPr>
              <a:t>Propiedad intelectual</a:t>
            </a:r>
            <a:r>
              <a:rPr lang="es-419" sz="1600">
                <a:solidFill>
                  <a:srgbClr val="000000"/>
                </a:solidFill>
                <a:latin typeface="Arial"/>
                <a:ea typeface="Arial"/>
                <a:cs typeface="Arial"/>
                <a:sym typeface="Arial"/>
              </a:rPr>
              <a:t>: definir si el usuario posee derechos sobre las imágenes.</a:t>
            </a:r>
            <a:br>
              <a:rPr lang="es-419" sz="1600">
                <a:solidFill>
                  <a:srgbClr val="000000"/>
                </a:solidFill>
                <a:latin typeface="Arial"/>
                <a:ea typeface="Arial"/>
                <a:cs typeface="Arial"/>
                <a:sym typeface="Arial"/>
              </a:rPr>
            </a:br>
            <a:endParaRPr sz="1600">
              <a:solidFill>
                <a:srgbClr val="000000"/>
              </a:solidFill>
              <a:latin typeface="Arial"/>
              <a:ea typeface="Arial"/>
              <a:cs typeface="Arial"/>
              <a:sym typeface="Arial"/>
            </a:endParaRPr>
          </a:p>
          <a:p>
            <a:pPr marL="457200" lvl="0" indent="-330200" algn="l" rtl="0">
              <a:spcBef>
                <a:spcPts val="0"/>
              </a:spcBef>
              <a:spcAft>
                <a:spcPts val="0"/>
              </a:spcAft>
              <a:buClr>
                <a:srgbClr val="000000"/>
              </a:buClr>
              <a:buSzPts val="1600"/>
              <a:buFont typeface="Arial"/>
              <a:buChar char="●"/>
            </a:pPr>
            <a:r>
              <a:rPr lang="es-419" sz="1600" b="1">
                <a:solidFill>
                  <a:srgbClr val="000000"/>
                </a:solidFill>
                <a:latin typeface="Arial"/>
                <a:ea typeface="Arial"/>
                <a:cs typeface="Arial"/>
                <a:sym typeface="Arial"/>
              </a:rPr>
              <a:t>Privacidad (GDPR/CCPA)</a:t>
            </a:r>
            <a:r>
              <a:rPr lang="es-419" sz="1600">
                <a:solidFill>
                  <a:srgbClr val="000000"/>
                </a:solidFill>
                <a:latin typeface="Arial"/>
                <a:ea typeface="Arial"/>
                <a:cs typeface="Arial"/>
                <a:sym typeface="Arial"/>
              </a:rPr>
              <a:t>: proteger datos como correos o imágenes.</a:t>
            </a:r>
            <a:br>
              <a:rPr lang="es-419" sz="1600">
                <a:solidFill>
                  <a:srgbClr val="000000"/>
                </a:solidFill>
                <a:latin typeface="Arial"/>
                <a:ea typeface="Arial"/>
                <a:cs typeface="Arial"/>
                <a:sym typeface="Arial"/>
              </a:rPr>
            </a:br>
            <a:endParaRPr sz="1600">
              <a:solidFill>
                <a:srgbClr val="000000"/>
              </a:solidFill>
              <a:latin typeface="Arial"/>
              <a:ea typeface="Arial"/>
              <a:cs typeface="Arial"/>
              <a:sym typeface="Arial"/>
            </a:endParaRPr>
          </a:p>
          <a:p>
            <a:pPr marL="457200" lvl="0" indent="-330200" algn="l" rtl="0">
              <a:spcBef>
                <a:spcPts val="0"/>
              </a:spcBef>
              <a:spcAft>
                <a:spcPts val="0"/>
              </a:spcAft>
              <a:buClr>
                <a:srgbClr val="000000"/>
              </a:buClr>
              <a:buSzPts val="1600"/>
              <a:buFont typeface="Arial"/>
              <a:buChar char="●"/>
            </a:pPr>
            <a:r>
              <a:rPr lang="es-419" sz="1600" b="1">
                <a:solidFill>
                  <a:srgbClr val="000000"/>
                </a:solidFill>
                <a:latin typeface="Arial"/>
                <a:ea typeface="Arial"/>
                <a:cs typeface="Arial"/>
                <a:sym typeface="Arial"/>
              </a:rPr>
              <a:t>Uso ético</a:t>
            </a:r>
            <a:r>
              <a:rPr lang="es-419" sz="1600">
                <a:solidFill>
                  <a:srgbClr val="000000"/>
                </a:solidFill>
                <a:latin typeface="Arial"/>
                <a:ea typeface="Arial"/>
                <a:cs typeface="Arial"/>
                <a:sym typeface="Arial"/>
              </a:rPr>
              <a:t>: evitar contenido ofensivo y garantizar transparencia.</a:t>
            </a:r>
            <a:endParaRPr sz="1600">
              <a:solidFill>
                <a:srgbClr val="000000"/>
              </a:solidFill>
              <a:latin typeface="Arial"/>
              <a:ea typeface="Arial"/>
              <a:cs typeface="Arial"/>
              <a:sym typeface="Arial"/>
            </a:endParaRPr>
          </a:p>
          <a:p>
            <a:pPr marL="0" lvl="0" indent="0" algn="l" rtl="0">
              <a:spcBef>
                <a:spcPts val="1200"/>
              </a:spcBef>
              <a:spcAft>
                <a:spcPts val="1200"/>
              </a:spcAft>
              <a:buNone/>
            </a:pPr>
            <a:endParaRPr sz="3000" b="1">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17"/>
                                        </p:tgtEl>
                                        <p:attrNameLst>
                                          <p:attrName>style.visibility</p:attrName>
                                        </p:attrNameLst>
                                      </p:cBhvr>
                                      <p:to>
                                        <p:strVal val="visible"/>
                                      </p:to>
                                    </p:set>
                                    <p:anim calcmode="lin" valueType="num">
                                      <p:cBhvr additive="base">
                                        <p:cTn id="7" dur="1000"/>
                                        <p:tgtEl>
                                          <p:spTgt spid="117"/>
                                        </p:tgtEl>
                                        <p:attrNameLst>
                                          <p:attrName>ppt_w</p:attrName>
                                        </p:attrNameLst>
                                      </p:cBhvr>
                                      <p:tavLst>
                                        <p:tav tm="0">
                                          <p:val>
                                            <p:strVal val="0"/>
                                          </p:val>
                                        </p:tav>
                                        <p:tav tm="100000">
                                          <p:val>
                                            <p:strVal val="#ppt_w"/>
                                          </p:val>
                                        </p:tav>
                                      </p:tavLst>
                                    </p:anim>
                                    <p:anim calcmode="lin" valueType="num">
                                      <p:cBhvr additive="base">
                                        <p:cTn id="8" dur="1000"/>
                                        <p:tgtEl>
                                          <p:spTgt spid="11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18"/>
                                        </p:tgtEl>
                                        <p:attrNameLst>
                                          <p:attrName>style.visibility</p:attrName>
                                        </p:attrNameLst>
                                      </p:cBhvr>
                                      <p:to>
                                        <p:strVal val="visible"/>
                                      </p:to>
                                    </p:set>
                                    <p:anim calcmode="lin" valueType="num">
                                      <p:cBhvr additive="base">
                                        <p:cTn id="13" dur="1000"/>
                                        <p:tgtEl>
                                          <p:spTgt spid="118"/>
                                        </p:tgtEl>
                                        <p:attrNameLst>
                                          <p:attrName>ppt_w</p:attrName>
                                        </p:attrNameLst>
                                      </p:cBhvr>
                                      <p:tavLst>
                                        <p:tav tm="0">
                                          <p:val>
                                            <p:strVal val="0"/>
                                          </p:val>
                                        </p:tav>
                                        <p:tav tm="100000">
                                          <p:val>
                                            <p:strVal val="#ppt_w"/>
                                          </p:val>
                                        </p:tav>
                                      </p:tavLst>
                                    </p:anim>
                                    <p:anim calcmode="lin" valueType="num">
                                      <p:cBhvr additive="base">
                                        <p:cTn id="14" dur="1000"/>
                                        <p:tgtEl>
                                          <p:spTgt spid="11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2"/>
          <p:cNvSpPr txBox="1">
            <a:spLocks noGrp="1"/>
          </p:cNvSpPr>
          <p:nvPr>
            <p:ph type="title"/>
          </p:nvPr>
        </p:nvSpPr>
        <p:spPr>
          <a:xfrm>
            <a:off x="471900" y="274750"/>
            <a:ext cx="8222100" cy="1231800"/>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1400"/>
              </a:spcBef>
              <a:spcAft>
                <a:spcPts val="400"/>
              </a:spcAft>
              <a:buNone/>
            </a:pPr>
            <a:r>
              <a:rPr lang="es-419" sz="6000" b="1"/>
              <a:t>Desarrollo</a:t>
            </a:r>
            <a:endParaRPr sz="6000" b="1"/>
          </a:p>
        </p:txBody>
      </p:sp>
      <p:sp>
        <p:nvSpPr>
          <p:cNvPr id="124" name="Google Shape;124;p22"/>
          <p:cNvSpPr txBox="1">
            <a:spLocks noGrp="1"/>
          </p:cNvSpPr>
          <p:nvPr>
            <p:ph type="body" idx="1"/>
          </p:nvPr>
        </p:nvSpPr>
        <p:spPr>
          <a:xfrm>
            <a:off x="600125" y="1809135"/>
            <a:ext cx="4693500" cy="619433"/>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1200"/>
              </a:spcBef>
              <a:spcAft>
                <a:spcPts val="1200"/>
              </a:spcAft>
              <a:buNone/>
            </a:pPr>
            <a:r>
              <a:rPr lang="es-419" sz="2200" b="1" dirty="0">
                <a:solidFill>
                  <a:srgbClr val="000000"/>
                </a:solidFill>
              </a:rPr>
              <a:t>Objetivos (generales y específicos):</a:t>
            </a:r>
            <a:endParaRPr sz="2200" b="1">
              <a:solidFill>
                <a:srgbClr val="000000"/>
              </a:solidFill>
            </a:endParaRPr>
          </a:p>
        </p:txBody>
      </p:sp>
      <p:sp>
        <p:nvSpPr>
          <p:cNvPr id="125" name="Google Shape;125;p22"/>
          <p:cNvSpPr txBox="1">
            <a:spLocks noGrp="1"/>
          </p:cNvSpPr>
          <p:nvPr>
            <p:ph type="body" idx="1"/>
          </p:nvPr>
        </p:nvSpPr>
        <p:spPr>
          <a:xfrm>
            <a:off x="600125" y="2493499"/>
            <a:ext cx="8222100" cy="2511119"/>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1200"/>
              </a:spcBef>
              <a:spcAft>
                <a:spcPts val="0"/>
              </a:spcAft>
              <a:buNone/>
            </a:pPr>
            <a:r>
              <a:rPr lang="es-419" sz="2000" dirty="0">
                <a:solidFill>
                  <a:srgbClr val="000000"/>
                </a:solidFill>
                <a:latin typeface="Arial"/>
                <a:ea typeface="Arial"/>
                <a:cs typeface="Arial"/>
                <a:sym typeface="Arial"/>
              </a:rPr>
              <a:t>Desarrollar una aplicación web full-stack (MERN) que genere imágenes a partir de texto usando IA.</a:t>
            </a:r>
            <a:br>
              <a:rPr lang="es-419" sz="2000" dirty="0">
                <a:solidFill>
                  <a:srgbClr val="000000"/>
                </a:solidFill>
                <a:latin typeface="Arial"/>
                <a:ea typeface="Arial"/>
                <a:cs typeface="Arial"/>
                <a:sym typeface="Arial"/>
              </a:rPr>
            </a:br>
            <a:r>
              <a:rPr lang="es-419" sz="2000" dirty="0">
                <a:solidFill>
                  <a:srgbClr val="000000"/>
                </a:solidFill>
                <a:latin typeface="Arial"/>
                <a:ea typeface="Arial"/>
                <a:cs typeface="Arial"/>
                <a:sym typeface="Arial"/>
              </a:rPr>
              <a:t> Permite al usuario escribir un </a:t>
            </a:r>
            <a:r>
              <a:rPr lang="es-419" sz="2000" b="1" dirty="0">
                <a:solidFill>
                  <a:srgbClr val="000000"/>
                </a:solidFill>
                <a:latin typeface="Arial"/>
                <a:ea typeface="Arial"/>
                <a:cs typeface="Arial"/>
                <a:sym typeface="Arial"/>
              </a:rPr>
              <a:t>prompt</a:t>
            </a:r>
            <a:r>
              <a:rPr lang="es-419" sz="2000" dirty="0">
                <a:solidFill>
                  <a:srgbClr val="000000"/>
                </a:solidFill>
                <a:latin typeface="Arial"/>
                <a:ea typeface="Arial"/>
                <a:cs typeface="Arial"/>
                <a:sym typeface="Arial"/>
              </a:rPr>
              <a:t> y obtener una imagen generada automáticamente.</a:t>
            </a:r>
            <a:br>
              <a:rPr lang="es-419" sz="2000" dirty="0">
                <a:solidFill>
                  <a:srgbClr val="000000"/>
                </a:solidFill>
                <a:latin typeface="Arial"/>
                <a:ea typeface="Arial"/>
                <a:cs typeface="Arial"/>
                <a:sym typeface="Arial"/>
              </a:rPr>
            </a:br>
            <a:r>
              <a:rPr lang="es-419" sz="2000" dirty="0">
                <a:solidFill>
                  <a:srgbClr val="000000"/>
                </a:solidFill>
                <a:latin typeface="Arial"/>
                <a:ea typeface="Arial"/>
                <a:cs typeface="Arial"/>
                <a:sym typeface="Arial"/>
              </a:rPr>
              <a:t> Las imágenes pueden almacenarse y consultarse luego, replicando funciones de plataformas como Hugging Face.</a:t>
            </a:r>
            <a:endParaRPr sz="2000">
              <a:solidFill>
                <a:srgbClr val="000000"/>
              </a:solidFill>
              <a:latin typeface="Arial"/>
              <a:ea typeface="Arial"/>
              <a:cs typeface="Arial"/>
              <a:sym typeface="Arial"/>
            </a:endParaRPr>
          </a:p>
          <a:p>
            <a:pPr marL="0" lvl="0" indent="0" algn="l" rtl="0">
              <a:spcBef>
                <a:spcPts val="1200"/>
              </a:spcBef>
              <a:spcAft>
                <a:spcPts val="1200"/>
              </a:spcAft>
              <a:buNone/>
            </a:pPr>
            <a:endParaRPr sz="2200">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 calcmode="lin" valueType="num">
                                      <p:cBhvr additive="base">
                                        <p:cTn id="7" dur="1000"/>
                                        <p:tgtEl>
                                          <p:spTgt spid="123"/>
                                        </p:tgtEl>
                                        <p:attrNameLst>
                                          <p:attrName>ppt_w</p:attrName>
                                        </p:attrNameLst>
                                      </p:cBhvr>
                                      <p:tavLst>
                                        <p:tav tm="0">
                                          <p:val>
                                            <p:strVal val="0"/>
                                          </p:val>
                                        </p:tav>
                                        <p:tav tm="100000">
                                          <p:val>
                                            <p:strVal val="#ppt_w"/>
                                          </p:val>
                                        </p:tav>
                                      </p:tavLst>
                                    </p:anim>
                                    <p:anim calcmode="lin" valueType="num">
                                      <p:cBhvr additive="base">
                                        <p:cTn id="8" dur="1000"/>
                                        <p:tgtEl>
                                          <p:spTgt spid="123"/>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24"/>
                                        </p:tgtEl>
                                        <p:attrNameLst>
                                          <p:attrName>style.visibility</p:attrName>
                                        </p:attrNameLst>
                                      </p:cBhvr>
                                      <p:to>
                                        <p:strVal val="visible"/>
                                      </p:to>
                                    </p:set>
                                    <p:anim calcmode="lin" valueType="num">
                                      <p:cBhvr additive="base">
                                        <p:cTn id="13" dur="1000"/>
                                        <p:tgtEl>
                                          <p:spTgt spid="124"/>
                                        </p:tgtEl>
                                        <p:attrNameLst>
                                          <p:attrName>ppt_w</p:attrName>
                                        </p:attrNameLst>
                                      </p:cBhvr>
                                      <p:tavLst>
                                        <p:tav tm="0">
                                          <p:val>
                                            <p:strVal val="0"/>
                                          </p:val>
                                        </p:tav>
                                        <p:tav tm="100000">
                                          <p:val>
                                            <p:strVal val="#ppt_w"/>
                                          </p:val>
                                        </p:tav>
                                      </p:tavLst>
                                    </p:anim>
                                    <p:anim calcmode="lin" valueType="num">
                                      <p:cBhvr additive="base">
                                        <p:cTn id="14" dur="1000"/>
                                        <p:tgtEl>
                                          <p:spTgt spid="124"/>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125"/>
                                        </p:tgtEl>
                                        <p:attrNameLst>
                                          <p:attrName>style.visibility</p:attrName>
                                        </p:attrNameLst>
                                      </p:cBhvr>
                                      <p:to>
                                        <p:strVal val="visible"/>
                                      </p:to>
                                    </p:set>
                                    <p:anim calcmode="lin" valueType="num">
                                      <p:cBhvr additive="base">
                                        <p:cTn id="19" dur="1000"/>
                                        <p:tgtEl>
                                          <p:spTgt spid="125"/>
                                        </p:tgtEl>
                                        <p:attrNameLst>
                                          <p:attrName>ppt_w</p:attrName>
                                        </p:attrNameLst>
                                      </p:cBhvr>
                                      <p:tavLst>
                                        <p:tav tm="0">
                                          <p:val>
                                            <p:strVal val="0"/>
                                          </p:val>
                                        </p:tav>
                                        <p:tav tm="100000">
                                          <p:val>
                                            <p:strVal val="#ppt_w"/>
                                          </p:val>
                                        </p:tav>
                                      </p:tavLst>
                                    </p:anim>
                                    <p:anim calcmode="lin" valueType="num">
                                      <p:cBhvr additive="base">
                                        <p:cTn id="20" dur="1000"/>
                                        <p:tgtEl>
                                          <p:spTgt spid="12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471900" y="91575"/>
            <a:ext cx="8222100" cy="1483800"/>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1200"/>
              </a:spcBef>
              <a:spcAft>
                <a:spcPts val="200"/>
              </a:spcAft>
              <a:buNone/>
            </a:pPr>
            <a:r>
              <a:rPr lang="es-419" sz="4000" b="1"/>
              <a:t>Descripción de la metodología de trabajo</a:t>
            </a:r>
            <a:endParaRPr sz="4000" b="1"/>
          </a:p>
        </p:txBody>
      </p:sp>
      <p:sp>
        <p:nvSpPr>
          <p:cNvPr id="131" name="Google Shape;131;p23"/>
          <p:cNvSpPr txBox="1">
            <a:spLocks noGrp="1"/>
          </p:cNvSpPr>
          <p:nvPr>
            <p:ph type="body" idx="1"/>
          </p:nvPr>
        </p:nvSpPr>
        <p:spPr>
          <a:xfrm>
            <a:off x="600125" y="1846699"/>
            <a:ext cx="1598100" cy="581869"/>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1200"/>
              </a:spcBef>
              <a:spcAft>
                <a:spcPts val="1200"/>
              </a:spcAft>
              <a:buNone/>
            </a:pPr>
            <a:r>
              <a:rPr lang="es-419" sz="2200" b="1" dirty="0">
                <a:solidFill>
                  <a:srgbClr val="000000"/>
                </a:solidFill>
              </a:rPr>
              <a:t>Estructura:</a:t>
            </a:r>
            <a:endParaRPr sz="2200" b="1">
              <a:solidFill>
                <a:srgbClr val="000000"/>
              </a:solidFill>
            </a:endParaRPr>
          </a:p>
        </p:txBody>
      </p:sp>
      <p:sp>
        <p:nvSpPr>
          <p:cNvPr id="132" name="Google Shape;132;p23"/>
          <p:cNvSpPr txBox="1">
            <a:spLocks noGrp="1"/>
          </p:cNvSpPr>
          <p:nvPr>
            <p:ph type="body" idx="1"/>
          </p:nvPr>
        </p:nvSpPr>
        <p:spPr>
          <a:xfrm>
            <a:off x="600125" y="2493500"/>
            <a:ext cx="8222100" cy="25620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1200"/>
              </a:spcBef>
              <a:spcAft>
                <a:spcPts val="0"/>
              </a:spcAft>
              <a:buNone/>
            </a:pPr>
            <a:r>
              <a:rPr lang="es-419" sz="1600" dirty="0">
                <a:solidFill>
                  <a:srgbClr val="000000"/>
                </a:solidFill>
                <a:latin typeface="Arial"/>
                <a:ea typeface="Arial"/>
                <a:cs typeface="Arial"/>
                <a:sym typeface="Arial"/>
              </a:rPr>
              <a:t>El proyecto es individual y sigue la arquitectura MERN.</a:t>
            </a:r>
            <a:br>
              <a:rPr lang="es-419" sz="1600" dirty="0">
                <a:solidFill>
                  <a:srgbClr val="000000"/>
                </a:solidFill>
                <a:latin typeface="Arial"/>
                <a:ea typeface="Arial"/>
                <a:cs typeface="Arial"/>
                <a:sym typeface="Arial"/>
              </a:rPr>
            </a:br>
            <a:r>
              <a:rPr lang="es-419" sz="1600" dirty="0">
                <a:solidFill>
                  <a:srgbClr val="000000"/>
                </a:solidFill>
                <a:latin typeface="Arial"/>
                <a:ea typeface="Arial"/>
                <a:cs typeface="Arial"/>
                <a:sym typeface="Arial"/>
              </a:rPr>
              <a:t> Se organiza en dos carpetas principales:</a:t>
            </a:r>
            <a:endParaRPr sz="1600">
              <a:solidFill>
                <a:srgbClr val="000000"/>
              </a:solidFill>
              <a:latin typeface="Arial"/>
              <a:ea typeface="Arial"/>
              <a:cs typeface="Arial"/>
              <a:sym typeface="Arial"/>
            </a:endParaRPr>
          </a:p>
          <a:p>
            <a:pPr marL="457200" lvl="0" indent="-349250" algn="l" rtl="0">
              <a:spcBef>
                <a:spcPts val="1200"/>
              </a:spcBef>
              <a:spcAft>
                <a:spcPts val="0"/>
              </a:spcAft>
              <a:buClr>
                <a:srgbClr val="000000"/>
              </a:buClr>
              <a:buSzPts val="1900"/>
              <a:buFont typeface="Arial"/>
              <a:buChar char="●"/>
            </a:pPr>
            <a:r>
              <a:rPr lang="es-419" sz="1600" b="1" dirty="0">
                <a:solidFill>
                  <a:srgbClr val="000000"/>
                </a:solidFill>
                <a:latin typeface="Arial"/>
                <a:ea typeface="Arial"/>
                <a:cs typeface="Arial"/>
                <a:sym typeface="Arial"/>
              </a:rPr>
              <a:t>Cliente</a:t>
            </a:r>
            <a:r>
              <a:rPr lang="es-419" sz="1600" dirty="0">
                <a:solidFill>
                  <a:srgbClr val="000000"/>
                </a:solidFill>
                <a:latin typeface="Arial"/>
                <a:ea typeface="Arial"/>
                <a:cs typeface="Arial"/>
                <a:sym typeface="Arial"/>
              </a:rPr>
              <a:t>: interfaz con React, organizada en </a:t>
            </a:r>
            <a:r>
              <a:rPr lang="es-419" sz="1600" dirty="0">
                <a:solidFill>
                  <a:srgbClr val="188038"/>
                </a:solidFill>
                <a:latin typeface="Roboto Mono"/>
                <a:ea typeface="Roboto Mono"/>
                <a:cs typeface="Roboto Mono"/>
                <a:sym typeface="Roboto Mono"/>
              </a:rPr>
              <a:t>assets/</a:t>
            </a:r>
            <a:r>
              <a:rPr lang="es-419" sz="1600" dirty="0">
                <a:solidFill>
                  <a:srgbClr val="000000"/>
                </a:solidFill>
                <a:latin typeface="Arial"/>
                <a:ea typeface="Arial"/>
                <a:cs typeface="Arial"/>
                <a:sym typeface="Arial"/>
              </a:rPr>
              <a:t>, </a:t>
            </a:r>
            <a:r>
              <a:rPr lang="es-419" sz="1600" dirty="0">
                <a:solidFill>
                  <a:srgbClr val="188038"/>
                </a:solidFill>
                <a:latin typeface="Roboto Mono"/>
                <a:ea typeface="Roboto Mono"/>
                <a:cs typeface="Roboto Mono"/>
                <a:sym typeface="Roboto Mono"/>
              </a:rPr>
              <a:t>components/</a:t>
            </a:r>
            <a:r>
              <a:rPr lang="es-419" sz="1600" dirty="0">
                <a:solidFill>
                  <a:srgbClr val="000000"/>
                </a:solidFill>
                <a:latin typeface="Arial"/>
                <a:ea typeface="Arial"/>
                <a:cs typeface="Arial"/>
                <a:sym typeface="Arial"/>
              </a:rPr>
              <a:t>, </a:t>
            </a:r>
            <a:r>
              <a:rPr lang="es-419" sz="1600" dirty="0">
                <a:solidFill>
                  <a:srgbClr val="188038"/>
                </a:solidFill>
                <a:latin typeface="Roboto Mono"/>
                <a:ea typeface="Roboto Mono"/>
                <a:cs typeface="Roboto Mono"/>
                <a:sym typeface="Roboto Mono"/>
              </a:rPr>
              <a:t>constants/</a:t>
            </a:r>
            <a:r>
              <a:rPr lang="es-419" sz="1600" dirty="0">
                <a:solidFill>
                  <a:srgbClr val="000000"/>
                </a:solidFill>
                <a:latin typeface="Arial"/>
                <a:ea typeface="Arial"/>
                <a:cs typeface="Arial"/>
                <a:sym typeface="Arial"/>
              </a:rPr>
              <a:t>, </a:t>
            </a:r>
            <a:r>
              <a:rPr lang="es-419" sz="1600" dirty="0">
                <a:solidFill>
                  <a:srgbClr val="188038"/>
                </a:solidFill>
                <a:latin typeface="Roboto Mono"/>
                <a:ea typeface="Roboto Mono"/>
                <a:cs typeface="Roboto Mono"/>
                <a:sym typeface="Roboto Mono"/>
              </a:rPr>
              <a:t>pages/</a:t>
            </a:r>
            <a:r>
              <a:rPr lang="es-419" sz="1600" dirty="0">
                <a:solidFill>
                  <a:srgbClr val="000000"/>
                </a:solidFill>
                <a:latin typeface="Arial"/>
                <a:ea typeface="Arial"/>
                <a:cs typeface="Arial"/>
                <a:sym typeface="Arial"/>
              </a:rPr>
              <a:t> y </a:t>
            </a:r>
            <a:r>
              <a:rPr lang="es-419" sz="1600" dirty="0">
                <a:solidFill>
                  <a:srgbClr val="188038"/>
                </a:solidFill>
                <a:latin typeface="Roboto Mono"/>
                <a:ea typeface="Roboto Mono"/>
                <a:cs typeface="Roboto Mono"/>
                <a:sym typeface="Roboto Mono"/>
              </a:rPr>
              <a:t>utils/</a:t>
            </a:r>
            <a:r>
              <a:rPr lang="es-419" sz="1600" dirty="0">
                <a:solidFill>
                  <a:srgbClr val="000000"/>
                </a:solidFill>
                <a:latin typeface="Arial"/>
                <a:ea typeface="Arial"/>
                <a:cs typeface="Arial"/>
                <a:sym typeface="Arial"/>
              </a:rPr>
              <a:t>.</a:t>
            </a:r>
            <a:br>
              <a:rPr lang="es-419" sz="1600" dirty="0">
                <a:solidFill>
                  <a:srgbClr val="000000"/>
                </a:solidFill>
                <a:latin typeface="Arial"/>
                <a:ea typeface="Arial"/>
                <a:cs typeface="Arial"/>
                <a:sym typeface="Arial"/>
              </a:rPr>
            </a:br>
            <a:endParaRPr sz="1600">
              <a:solidFill>
                <a:srgbClr val="000000"/>
              </a:solidFill>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s-419" sz="1600" b="1" dirty="0">
                <a:solidFill>
                  <a:srgbClr val="000000"/>
                </a:solidFill>
                <a:latin typeface="Arial"/>
                <a:ea typeface="Arial"/>
                <a:cs typeface="Arial"/>
                <a:sym typeface="Arial"/>
              </a:rPr>
              <a:t>Server</a:t>
            </a:r>
            <a:r>
              <a:rPr lang="es-419" sz="1600" dirty="0">
                <a:solidFill>
                  <a:srgbClr val="000000"/>
                </a:solidFill>
                <a:latin typeface="Arial"/>
                <a:ea typeface="Arial"/>
                <a:cs typeface="Arial"/>
                <a:sym typeface="Arial"/>
              </a:rPr>
              <a:t>: backend con rutas API (</a:t>
            </a:r>
            <a:r>
              <a:rPr lang="es-419" sz="1600" dirty="0">
                <a:solidFill>
                  <a:srgbClr val="188038"/>
                </a:solidFill>
                <a:latin typeface="Roboto Mono"/>
                <a:ea typeface="Roboto Mono"/>
                <a:cs typeface="Roboto Mono"/>
                <a:sym typeface="Roboto Mono"/>
              </a:rPr>
              <a:t>routes/</a:t>
            </a:r>
            <a:r>
              <a:rPr lang="es-419" sz="1600" dirty="0">
                <a:solidFill>
                  <a:srgbClr val="000000"/>
                </a:solidFill>
                <a:latin typeface="Arial"/>
                <a:ea typeface="Arial"/>
                <a:cs typeface="Arial"/>
                <a:sym typeface="Arial"/>
              </a:rPr>
              <a:t>), base de datos (</a:t>
            </a:r>
            <a:r>
              <a:rPr lang="es-419" sz="1600" dirty="0">
                <a:solidFill>
                  <a:srgbClr val="188038"/>
                </a:solidFill>
                <a:latin typeface="Roboto Mono"/>
                <a:ea typeface="Roboto Mono"/>
                <a:cs typeface="Roboto Mono"/>
                <a:sym typeface="Roboto Mono"/>
              </a:rPr>
              <a:t>mongoDB/</a:t>
            </a:r>
            <a:r>
              <a:rPr lang="es-419" sz="1600" dirty="0">
                <a:solidFill>
                  <a:srgbClr val="000000"/>
                </a:solidFill>
                <a:latin typeface="Arial"/>
                <a:ea typeface="Arial"/>
                <a:cs typeface="Arial"/>
                <a:sym typeface="Arial"/>
              </a:rPr>
              <a:t>) y conexión a MongoDB (</a:t>
            </a:r>
            <a:r>
              <a:rPr lang="es-419" sz="1600" dirty="0">
                <a:solidFill>
                  <a:srgbClr val="188038"/>
                </a:solidFill>
                <a:latin typeface="Roboto Mono"/>
                <a:ea typeface="Roboto Mono"/>
                <a:cs typeface="Roboto Mono"/>
                <a:sym typeface="Roboto Mono"/>
              </a:rPr>
              <a:t>connect.js</a:t>
            </a:r>
            <a:r>
              <a:rPr lang="es-419" sz="1600" dirty="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marL="0" lvl="0" indent="0" algn="l" rtl="0">
              <a:spcBef>
                <a:spcPts val="1200"/>
              </a:spcBef>
              <a:spcAft>
                <a:spcPts val="0"/>
              </a:spcAft>
              <a:buNone/>
            </a:pPr>
            <a:endParaRPr sz="1900">
              <a:solidFill>
                <a:srgbClr val="000000"/>
              </a:solidFill>
              <a:latin typeface="Arial"/>
              <a:ea typeface="Arial"/>
              <a:cs typeface="Arial"/>
              <a:sym typeface="Arial"/>
            </a:endParaRPr>
          </a:p>
          <a:p>
            <a:pPr marL="0" lvl="0" indent="0" algn="l" rtl="0">
              <a:spcBef>
                <a:spcPts val="1200"/>
              </a:spcBef>
              <a:spcAft>
                <a:spcPts val="1200"/>
              </a:spcAft>
              <a:buNone/>
            </a:pPr>
            <a:endParaRPr sz="1900">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30"/>
                                        </p:tgtEl>
                                        <p:attrNameLst>
                                          <p:attrName>style.visibility</p:attrName>
                                        </p:attrNameLst>
                                      </p:cBhvr>
                                      <p:to>
                                        <p:strVal val="visible"/>
                                      </p:to>
                                    </p:set>
                                    <p:anim calcmode="lin" valueType="num">
                                      <p:cBhvr additive="base">
                                        <p:cTn id="7" dur="1000"/>
                                        <p:tgtEl>
                                          <p:spTgt spid="130"/>
                                        </p:tgtEl>
                                        <p:attrNameLst>
                                          <p:attrName>ppt_w</p:attrName>
                                        </p:attrNameLst>
                                      </p:cBhvr>
                                      <p:tavLst>
                                        <p:tav tm="0">
                                          <p:val>
                                            <p:strVal val="0"/>
                                          </p:val>
                                        </p:tav>
                                        <p:tav tm="100000">
                                          <p:val>
                                            <p:strVal val="#ppt_w"/>
                                          </p:val>
                                        </p:tav>
                                      </p:tavLst>
                                    </p:anim>
                                    <p:anim calcmode="lin" valueType="num">
                                      <p:cBhvr additive="base">
                                        <p:cTn id="8" dur="1000"/>
                                        <p:tgtEl>
                                          <p:spTgt spid="13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31"/>
                                        </p:tgtEl>
                                        <p:attrNameLst>
                                          <p:attrName>style.visibility</p:attrName>
                                        </p:attrNameLst>
                                      </p:cBhvr>
                                      <p:to>
                                        <p:strVal val="visible"/>
                                      </p:to>
                                    </p:set>
                                    <p:anim calcmode="lin" valueType="num">
                                      <p:cBhvr additive="base">
                                        <p:cTn id="13" dur="1000"/>
                                        <p:tgtEl>
                                          <p:spTgt spid="131"/>
                                        </p:tgtEl>
                                        <p:attrNameLst>
                                          <p:attrName>ppt_w</p:attrName>
                                        </p:attrNameLst>
                                      </p:cBhvr>
                                      <p:tavLst>
                                        <p:tav tm="0">
                                          <p:val>
                                            <p:strVal val="0"/>
                                          </p:val>
                                        </p:tav>
                                        <p:tav tm="100000">
                                          <p:val>
                                            <p:strVal val="#ppt_w"/>
                                          </p:val>
                                        </p:tav>
                                      </p:tavLst>
                                    </p:anim>
                                    <p:anim calcmode="lin" valueType="num">
                                      <p:cBhvr additive="base">
                                        <p:cTn id="14" dur="1000"/>
                                        <p:tgtEl>
                                          <p:spTgt spid="131"/>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132"/>
                                        </p:tgtEl>
                                        <p:attrNameLst>
                                          <p:attrName>style.visibility</p:attrName>
                                        </p:attrNameLst>
                                      </p:cBhvr>
                                      <p:to>
                                        <p:strVal val="visible"/>
                                      </p:to>
                                    </p:set>
                                    <p:anim calcmode="lin" valueType="num">
                                      <p:cBhvr additive="base">
                                        <p:cTn id="19" dur="1000"/>
                                        <p:tgtEl>
                                          <p:spTgt spid="132"/>
                                        </p:tgtEl>
                                        <p:attrNameLst>
                                          <p:attrName>ppt_w</p:attrName>
                                        </p:attrNameLst>
                                      </p:cBhvr>
                                      <p:tavLst>
                                        <p:tav tm="0">
                                          <p:val>
                                            <p:strVal val="0"/>
                                          </p:val>
                                        </p:tav>
                                        <p:tav tm="100000">
                                          <p:val>
                                            <p:strVal val="#ppt_w"/>
                                          </p:val>
                                        </p:tav>
                                      </p:tavLst>
                                    </p:anim>
                                    <p:anim calcmode="lin" valueType="num">
                                      <p:cBhvr additive="base">
                                        <p:cTn id="20" dur="1000"/>
                                        <p:tgtEl>
                                          <p:spTgt spid="13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4"/>
          <p:cNvSpPr txBox="1">
            <a:spLocks noGrp="1"/>
          </p:cNvSpPr>
          <p:nvPr>
            <p:ph type="title"/>
          </p:nvPr>
        </p:nvSpPr>
        <p:spPr>
          <a:xfrm>
            <a:off x="471900" y="580103"/>
            <a:ext cx="8222100" cy="926497"/>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1200"/>
              </a:spcBef>
              <a:spcAft>
                <a:spcPts val="200"/>
              </a:spcAft>
              <a:buNone/>
            </a:pPr>
            <a:r>
              <a:rPr lang="es-419" sz="4800" b="1" dirty="0"/>
              <a:t>Documentación oficial</a:t>
            </a:r>
            <a:endParaRPr sz="4800" b="1"/>
          </a:p>
        </p:txBody>
      </p:sp>
      <p:sp>
        <p:nvSpPr>
          <p:cNvPr id="138" name="Google Shape;138;p24"/>
          <p:cNvSpPr txBox="1">
            <a:spLocks noGrp="1"/>
          </p:cNvSpPr>
          <p:nvPr>
            <p:ph type="body" idx="1"/>
          </p:nvPr>
        </p:nvSpPr>
        <p:spPr>
          <a:xfrm>
            <a:off x="471900" y="1919075"/>
            <a:ext cx="8222100" cy="310521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1200"/>
              </a:spcBef>
              <a:spcAft>
                <a:spcPts val="0"/>
              </a:spcAft>
              <a:buNone/>
            </a:pPr>
            <a:r>
              <a:rPr lang="es-419" sz="1200" dirty="0">
                <a:solidFill>
                  <a:srgbClr val="000000"/>
                </a:solidFill>
              </a:rPr>
              <a:t>El desarrollo se basó en la revisión constante de la documentación oficial de las herramientas:</a:t>
            </a:r>
            <a:endParaRPr sz="1200">
              <a:solidFill>
                <a:srgbClr val="000000"/>
              </a:solidFill>
              <a:latin typeface="Arial"/>
              <a:ea typeface="Arial"/>
              <a:cs typeface="Arial"/>
              <a:sym typeface="Arial"/>
            </a:endParaRPr>
          </a:p>
          <a:p>
            <a:pPr marL="457200" lvl="0" indent="-311150" algn="l" rtl="0">
              <a:spcBef>
                <a:spcPts val="1200"/>
              </a:spcBef>
              <a:spcAft>
                <a:spcPts val="0"/>
              </a:spcAft>
              <a:buClr>
                <a:srgbClr val="000000"/>
              </a:buClr>
              <a:buSzPts val="1300"/>
              <a:buFont typeface="Arial"/>
              <a:buChar char="●"/>
            </a:pPr>
            <a:r>
              <a:rPr lang="es-419" sz="1200" b="1" dirty="0">
                <a:solidFill>
                  <a:srgbClr val="000000"/>
                </a:solidFill>
                <a:latin typeface="Arial"/>
                <a:ea typeface="Arial"/>
                <a:cs typeface="Arial"/>
                <a:sym typeface="Arial"/>
              </a:rPr>
              <a:t>Node.js</a:t>
            </a:r>
            <a:r>
              <a:rPr lang="es-419" sz="1200" dirty="0">
                <a:solidFill>
                  <a:srgbClr val="000000"/>
                </a:solidFill>
                <a:latin typeface="Arial"/>
                <a:ea typeface="Arial"/>
                <a:cs typeface="Arial"/>
                <a:sym typeface="Arial"/>
              </a:rPr>
              <a:t> para el backend.</a:t>
            </a:r>
            <a:br>
              <a:rPr lang="es-419" sz="1200" dirty="0">
                <a:solidFill>
                  <a:srgbClr val="000000"/>
                </a:solidFill>
                <a:latin typeface="Arial"/>
                <a:ea typeface="Arial"/>
                <a:cs typeface="Arial"/>
                <a:sym typeface="Arial"/>
              </a:rPr>
            </a:br>
            <a:endParaRPr sz="1200">
              <a:solidFill>
                <a:srgbClr val="000000"/>
              </a:solidFill>
              <a:latin typeface="Arial"/>
              <a:ea typeface="Arial"/>
              <a:cs typeface="Arial"/>
              <a:sym typeface="Arial"/>
            </a:endParaRPr>
          </a:p>
          <a:p>
            <a:pPr marL="457200" lvl="0" indent="-311150" algn="l" rtl="0">
              <a:spcBef>
                <a:spcPts val="0"/>
              </a:spcBef>
              <a:spcAft>
                <a:spcPts val="0"/>
              </a:spcAft>
              <a:buClr>
                <a:srgbClr val="000000"/>
              </a:buClr>
              <a:buSzPts val="1300"/>
              <a:buFont typeface="Arial"/>
              <a:buChar char="●"/>
            </a:pPr>
            <a:r>
              <a:rPr lang="es-419" sz="1200" b="1" dirty="0">
                <a:solidFill>
                  <a:srgbClr val="000000"/>
                </a:solidFill>
                <a:latin typeface="Arial"/>
                <a:ea typeface="Arial"/>
                <a:cs typeface="Arial"/>
                <a:sym typeface="Arial"/>
              </a:rPr>
              <a:t>Express.js</a:t>
            </a:r>
            <a:r>
              <a:rPr lang="es-419" sz="1200" dirty="0">
                <a:solidFill>
                  <a:srgbClr val="000000"/>
                </a:solidFill>
                <a:latin typeface="Arial"/>
                <a:ea typeface="Arial"/>
                <a:cs typeface="Arial"/>
                <a:sym typeface="Arial"/>
              </a:rPr>
              <a:t> para rutas y peticiones HTTP.</a:t>
            </a:r>
            <a:br>
              <a:rPr lang="es-419" sz="1200" dirty="0">
                <a:solidFill>
                  <a:srgbClr val="000000"/>
                </a:solidFill>
                <a:latin typeface="Arial"/>
                <a:ea typeface="Arial"/>
                <a:cs typeface="Arial"/>
                <a:sym typeface="Arial"/>
              </a:rPr>
            </a:br>
            <a:endParaRPr sz="1200">
              <a:solidFill>
                <a:srgbClr val="000000"/>
              </a:solidFill>
              <a:latin typeface="Arial"/>
              <a:ea typeface="Arial"/>
              <a:cs typeface="Arial"/>
              <a:sym typeface="Arial"/>
            </a:endParaRPr>
          </a:p>
          <a:p>
            <a:pPr marL="457200" lvl="0" indent="-311150" algn="l" rtl="0">
              <a:spcBef>
                <a:spcPts val="0"/>
              </a:spcBef>
              <a:spcAft>
                <a:spcPts val="0"/>
              </a:spcAft>
              <a:buClr>
                <a:srgbClr val="000000"/>
              </a:buClr>
              <a:buSzPts val="1300"/>
              <a:buFont typeface="Arial"/>
              <a:buChar char="●"/>
            </a:pPr>
            <a:r>
              <a:rPr lang="es-419" sz="1200" b="1" dirty="0">
                <a:solidFill>
                  <a:srgbClr val="000000"/>
                </a:solidFill>
                <a:latin typeface="Arial"/>
                <a:ea typeface="Arial"/>
                <a:cs typeface="Arial"/>
                <a:sym typeface="Arial"/>
              </a:rPr>
              <a:t>MongoDB</a:t>
            </a:r>
            <a:r>
              <a:rPr lang="es-419" sz="1200" dirty="0">
                <a:solidFill>
                  <a:srgbClr val="000000"/>
                </a:solidFill>
                <a:latin typeface="Arial"/>
                <a:ea typeface="Arial"/>
                <a:cs typeface="Arial"/>
                <a:sym typeface="Arial"/>
              </a:rPr>
              <a:t> para almacenamiento de datos.</a:t>
            </a:r>
            <a:br>
              <a:rPr lang="es-419" sz="1200" dirty="0">
                <a:solidFill>
                  <a:srgbClr val="000000"/>
                </a:solidFill>
                <a:latin typeface="Arial"/>
                <a:ea typeface="Arial"/>
                <a:cs typeface="Arial"/>
                <a:sym typeface="Arial"/>
              </a:rPr>
            </a:br>
            <a:endParaRPr sz="1200">
              <a:solidFill>
                <a:srgbClr val="000000"/>
              </a:solidFill>
              <a:latin typeface="Arial"/>
              <a:ea typeface="Arial"/>
              <a:cs typeface="Arial"/>
              <a:sym typeface="Arial"/>
            </a:endParaRPr>
          </a:p>
          <a:p>
            <a:pPr marL="457200" lvl="0" indent="-311150" algn="l" rtl="0">
              <a:spcBef>
                <a:spcPts val="0"/>
              </a:spcBef>
              <a:spcAft>
                <a:spcPts val="0"/>
              </a:spcAft>
              <a:buClr>
                <a:srgbClr val="000000"/>
              </a:buClr>
              <a:buSzPts val="1300"/>
              <a:buFont typeface="Arial"/>
              <a:buChar char="●"/>
            </a:pPr>
            <a:r>
              <a:rPr lang="es-419" sz="1200" b="1" dirty="0">
                <a:solidFill>
                  <a:srgbClr val="000000"/>
                </a:solidFill>
                <a:latin typeface="Arial"/>
                <a:ea typeface="Arial"/>
                <a:cs typeface="Arial"/>
                <a:sym typeface="Arial"/>
              </a:rPr>
              <a:t>React.js</a:t>
            </a:r>
            <a:r>
              <a:rPr lang="es-419" sz="1200" dirty="0">
                <a:solidFill>
                  <a:srgbClr val="000000"/>
                </a:solidFill>
                <a:latin typeface="Arial"/>
                <a:ea typeface="Arial"/>
                <a:cs typeface="Arial"/>
                <a:sym typeface="Arial"/>
              </a:rPr>
              <a:t> para el frontend.</a:t>
            </a:r>
            <a:br>
              <a:rPr lang="es-419" sz="1200" dirty="0">
                <a:solidFill>
                  <a:srgbClr val="000000"/>
                </a:solidFill>
                <a:latin typeface="Arial"/>
                <a:ea typeface="Arial"/>
                <a:cs typeface="Arial"/>
                <a:sym typeface="Arial"/>
              </a:rPr>
            </a:br>
            <a:endParaRPr sz="1200">
              <a:solidFill>
                <a:srgbClr val="000000"/>
              </a:solidFill>
              <a:latin typeface="Arial"/>
              <a:ea typeface="Arial"/>
              <a:cs typeface="Arial"/>
              <a:sym typeface="Arial"/>
            </a:endParaRPr>
          </a:p>
          <a:p>
            <a:pPr marL="457200" lvl="0" indent="-311150" algn="l" rtl="0">
              <a:spcBef>
                <a:spcPts val="0"/>
              </a:spcBef>
              <a:spcAft>
                <a:spcPts val="0"/>
              </a:spcAft>
              <a:buClr>
                <a:srgbClr val="000000"/>
              </a:buClr>
              <a:buSzPts val="1300"/>
              <a:buFont typeface="Arial"/>
              <a:buChar char="●"/>
            </a:pPr>
            <a:r>
              <a:rPr lang="es-419" sz="1200" b="1" dirty="0">
                <a:solidFill>
                  <a:srgbClr val="000000"/>
                </a:solidFill>
                <a:latin typeface="Arial"/>
                <a:ea typeface="Arial"/>
                <a:cs typeface="Arial"/>
                <a:sym typeface="Arial"/>
              </a:rPr>
              <a:t>Cloudinary</a:t>
            </a:r>
            <a:r>
              <a:rPr lang="es-419" sz="1200" dirty="0">
                <a:solidFill>
                  <a:srgbClr val="000000"/>
                </a:solidFill>
                <a:latin typeface="Arial"/>
                <a:ea typeface="Arial"/>
                <a:cs typeface="Arial"/>
                <a:sym typeface="Arial"/>
              </a:rPr>
              <a:t> para almacenamiento de imágenes.</a:t>
            </a:r>
            <a:br>
              <a:rPr lang="es-419" sz="1200" dirty="0">
                <a:solidFill>
                  <a:srgbClr val="000000"/>
                </a:solidFill>
                <a:latin typeface="Arial"/>
                <a:ea typeface="Arial"/>
                <a:cs typeface="Arial"/>
                <a:sym typeface="Arial"/>
              </a:rPr>
            </a:br>
            <a:endParaRPr sz="1200">
              <a:solidFill>
                <a:srgbClr val="000000"/>
              </a:solidFill>
              <a:latin typeface="Arial"/>
              <a:ea typeface="Arial"/>
              <a:cs typeface="Arial"/>
              <a:sym typeface="Arial"/>
            </a:endParaRPr>
          </a:p>
          <a:p>
            <a:pPr marL="457200" lvl="0" indent="-311150" algn="l" rtl="0">
              <a:spcBef>
                <a:spcPts val="0"/>
              </a:spcBef>
              <a:spcAft>
                <a:spcPts val="0"/>
              </a:spcAft>
              <a:buClr>
                <a:srgbClr val="000000"/>
              </a:buClr>
              <a:buSzPts val="1300"/>
              <a:buFont typeface="Arial"/>
              <a:buChar char="●"/>
            </a:pPr>
            <a:r>
              <a:rPr lang="es-419" sz="1200" b="1" dirty="0">
                <a:solidFill>
                  <a:srgbClr val="000000"/>
                </a:solidFill>
                <a:latin typeface="Arial"/>
                <a:ea typeface="Arial"/>
                <a:cs typeface="Arial"/>
                <a:sym typeface="Arial"/>
              </a:rPr>
              <a:t>Hugging Face</a:t>
            </a:r>
            <a:r>
              <a:rPr lang="es-419" sz="1200" dirty="0">
                <a:solidFill>
                  <a:srgbClr val="000000"/>
                </a:solidFill>
                <a:latin typeface="Arial"/>
                <a:ea typeface="Arial"/>
                <a:cs typeface="Arial"/>
                <a:sym typeface="Arial"/>
              </a:rPr>
              <a:t> para generación de imágenes con IA.</a:t>
            </a:r>
            <a:r>
              <a:rPr lang="es-419" sz="1300" dirty="0">
                <a:solidFill>
                  <a:srgbClr val="000000"/>
                </a:solidFill>
                <a:latin typeface="Arial"/>
                <a:ea typeface="Arial"/>
                <a:cs typeface="Arial"/>
                <a:sym typeface="Arial"/>
              </a:rPr>
              <a:t/>
            </a:r>
            <a:br>
              <a:rPr lang="es-419" sz="1300" dirty="0">
                <a:solidFill>
                  <a:srgbClr val="000000"/>
                </a:solidFill>
                <a:latin typeface="Arial"/>
                <a:ea typeface="Arial"/>
                <a:cs typeface="Arial"/>
                <a:sym typeface="Arial"/>
              </a:rPr>
            </a:br>
            <a:endParaRPr sz="1300">
              <a:solidFill>
                <a:srgbClr val="000000"/>
              </a:solidFill>
              <a:latin typeface="Arial"/>
              <a:ea typeface="Arial"/>
              <a:cs typeface="Arial"/>
              <a:sym typeface="Arial"/>
            </a:endParaRPr>
          </a:p>
          <a:p>
            <a:pPr marL="0" lvl="0" indent="0" algn="l" rtl="0">
              <a:spcBef>
                <a:spcPts val="1200"/>
              </a:spcBef>
              <a:spcAft>
                <a:spcPts val="0"/>
              </a:spcAft>
              <a:buNone/>
            </a:pPr>
            <a:endParaRPr sz="1300" b="1">
              <a:solidFill>
                <a:srgbClr val="000000"/>
              </a:solidFill>
            </a:endParaRPr>
          </a:p>
          <a:p>
            <a:pPr marL="0" lvl="0" indent="0" algn="l" rtl="0">
              <a:spcBef>
                <a:spcPts val="1200"/>
              </a:spcBef>
              <a:spcAft>
                <a:spcPts val="1200"/>
              </a:spcAft>
              <a:buNone/>
            </a:pPr>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anim calcmode="lin" valueType="num">
                                      <p:cBhvr additive="base">
                                        <p:cTn id="7" dur="1000"/>
                                        <p:tgtEl>
                                          <p:spTgt spid="137"/>
                                        </p:tgtEl>
                                        <p:attrNameLst>
                                          <p:attrName>ppt_w</p:attrName>
                                        </p:attrNameLst>
                                      </p:cBhvr>
                                      <p:tavLst>
                                        <p:tav tm="0">
                                          <p:val>
                                            <p:strVal val="0"/>
                                          </p:val>
                                        </p:tav>
                                        <p:tav tm="100000">
                                          <p:val>
                                            <p:strVal val="#ppt_w"/>
                                          </p:val>
                                        </p:tav>
                                      </p:tavLst>
                                    </p:anim>
                                    <p:anim calcmode="lin" valueType="num">
                                      <p:cBhvr additive="base">
                                        <p:cTn id="8" dur="1000"/>
                                        <p:tgtEl>
                                          <p:spTgt spid="13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38"/>
                                        </p:tgtEl>
                                        <p:attrNameLst>
                                          <p:attrName>style.visibility</p:attrName>
                                        </p:attrNameLst>
                                      </p:cBhvr>
                                      <p:to>
                                        <p:strVal val="visible"/>
                                      </p:to>
                                    </p:set>
                                    <p:anim calcmode="lin" valueType="num">
                                      <p:cBhvr additive="base">
                                        <p:cTn id="13" dur="1000"/>
                                        <p:tgtEl>
                                          <p:spTgt spid="138"/>
                                        </p:tgtEl>
                                        <p:attrNameLst>
                                          <p:attrName>ppt_w</p:attrName>
                                        </p:attrNameLst>
                                      </p:cBhvr>
                                      <p:tavLst>
                                        <p:tav tm="0">
                                          <p:val>
                                            <p:strVal val="0"/>
                                          </p:val>
                                        </p:tav>
                                        <p:tav tm="100000">
                                          <p:val>
                                            <p:strVal val="#ppt_w"/>
                                          </p:val>
                                        </p:tav>
                                      </p:tavLst>
                                    </p:anim>
                                    <p:anim calcmode="lin" valueType="num">
                                      <p:cBhvr additive="base">
                                        <p:cTn id="14" dur="1000"/>
                                        <p:tgtEl>
                                          <p:spTgt spid="13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5"/>
          <p:cNvSpPr txBox="1">
            <a:spLocks noGrp="1"/>
          </p:cNvSpPr>
          <p:nvPr>
            <p:ph type="title"/>
          </p:nvPr>
        </p:nvSpPr>
        <p:spPr>
          <a:xfrm>
            <a:off x="471900" y="348025"/>
            <a:ext cx="8222100" cy="1158300"/>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1200"/>
              </a:spcBef>
              <a:spcAft>
                <a:spcPts val="200"/>
              </a:spcAft>
              <a:buNone/>
            </a:pPr>
            <a:r>
              <a:rPr lang="es-419" sz="3000" b="1"/>
              <a:t>Tecnologías y herramientas que se utilizaron en el desarrollo</a:t>
            </a:r>
            <a:endParaRPr sz="3000" b="1"/>
          </a:p>
        </p:txBody>
      </p:sp>
      <p:sp>
        <p:nvSpPr>
          <p:cNvPr id="144" name="Google Shape;144;p25"/>
          <p:cNvSpPr txBox="1">
            <a:spLocks noGrp="1"/>
          </p:cNvSpPr>
          <p:nvPr>
            <p:ph type="body" idx="1"/>
          </p:nvPr>
        </p:nvSpPr>
        <p:spPr>
          <a:xfrm>
            <a:off x="471900" y="1919075"/>
            <a:ext cx="8222100" cy="27789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1200"/>
              </a:spcBef>
              <a:spcAft>
                <a:spcPts val="0"/>
              </a:spcAft>
              <a:buNone/>
            </a:pPr>
            <a:r>
              <a:rPr lang="es-419" sz="3000" b="1">
                <a:solidFill>
                  <a:srgbClr val="000000"/>
                </a:solidFill>
              </a:rPr>
              <a:t>Vite -&gt; </a:t>
            </a:r>
            <a:r>
              <a:rPr lang="es-419" sz="3000">
                <a:solidFill>
                  <a:srgbClr val="000000"/>
                </a:solidFill>
              </a:rPr>
              <a:t>frontend</a:t>
            </a:r>
            <a:endParaRPr sz="3000">
              <a:solidFill>
                <a:srgbClr val="000000"/>
              </a:solidFill>
            </a:endParaRPr>
          </a:p>
          <a:p>
            <a:pPr marL="0" lvl="0" indent="0" algn="ctr" rtl="0">
              <a:spcBef>
                <a:spcPts val="1200"/>
              </a:spcBef>
              <a:spcAft>
                <a:spcPts val="0"/>
              </a:spcAft>
              <a:buNone/>
            </a:pPr>
            <a:r>
              <a:rPr lang="es-419" sz="3000" b="1">
                <a:solidFill>
                  <a:srgbClr val="000000"/>
                </a:solidFill>
              </a:rPr>
              <a:t>Apidog -&gt; </a:t>
            </a:r>
            <a:r>
              <a:rPr lang="es-419" sz="3000">
                <a:solidFill>
                  <a:srgbClr val="000000"/>
                </a:solidFill>
              </a:rPr>
              <a:t>pruebas de APIs</a:t>
            </a:r>
            <a:endParaRPr sz="3000">
              <a:solidFill>
                <a:srgbClr val="000000"/>
              </a:solidFill>
            </a:endParaRPr>
          </a:p>
          <a:p>
            <a:pPr marL="0" lvl="0" indent="0" algn="ctr" rtl="0">
              <a:spcBef>
                <a:spcPts val="1200"/>
              </a:spcBef>
              <a:spcAft>
                <a:spcPts val="1200"/>
              </a:spcAft>
              <a:buNone/>
            </a:pPr>
            <a:r>
              <a:rPr lang="es-419" sz="3000" b="1">
                <a:solidFill>
                  <a:srgbClr val="000000"/>
                </a:solidFill>
              </a:rPr>
              <a:t>Tailwind CSS -&gt; </a:t>
            </a:r>
            <a:r>
              <a:rPr lang="es-419" sz="3000">
                <a:solidFill>
                  <a:srgbClr val="000000"/>
                </a:solidFill>
              </a:rPr>
              <a:t>estilos (clases utilitarias)</a:t>
            </a:r>
            <a:endParaRPr sz="3000">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anim calcmode="lin" valueType="num">
                                      <p:cBhvr additive="base">
                                        <p:cTn id="7" dur="1000"/>
                                        <p:tgtEl>
                                          <p:spTgt spid="143"/>
                                        </p:tgtEl>
                                        <p:attrNameLst>
                                          <p:attrName>ppt_w</p:attrName>
                                        </p:attrNameLst>
                                      </p:cBhvr>
                                      <p:tavLst>
                                        <p:tav tm="0">
                                          <p:val>
                                            <p:strVal val="0"/>
                                          </p:val>
                                        </p:tav>
                                        <p:tav tm="100000">
                                          <p:val>
                                            <p:strVal val="#ppt_w"/>
                                          </p:val>
                                        </p:tav>
                                      </p:tavLst>
                                    </p:anim>
                                    <p:anim calcmode="lin" valueType="num">
                                      <p:cBhvr additive="base">
                                        <p:cTn id="8" dur="1000"/>
                                        <p:tgtEl>
                                          <p:spTgt spid="143"/>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44"/>
                                        </p:tgtEl>
                                        <p:attrNameLst>
                                          <p:attrName>style.visibility</p:attrName>
                                        </p:attrNameLst>
                                      </p:cBhvr>
                                      <p:to>
                                        <p:strVal val="visible"/>
                                      </p:to>
                                    </p:set>
                                    <p:anim calcmode="lin" valueType="num">
                                      <p:cBhvr additive="base">
                                        <p:cTn id="13" dur="1000"/>
                                        <p:tgtEl>
                                          <p:spTgt spid="144"/>
                                        </p:tgtEl>
                                        <p:attrNameLst>
                                          <p:attrName>ppt_w</p:attrName>
                                        </p:attrNameLst>
                                      </p:cBhvr>
                                      <p:tavLst>
                                        <p:tav tm="0">
                                          <p:val>
                                            <p:strVal val="0"/>
                                          </p:val>
                                        </p:tav>
                                        <p:tav tm="100000">
                                          <p:val>
                                            <p:strVal val="#ppt_w"/>
                                          </p:val>
                                        </p:tav>
                                      </p:tavLst>
                                    </p:anim>
                                    <p:anim calcmode="lin" valueType="num">
                                      <p:cBhvr additive="base">
                                        <p:cTn id="14" dur="1000"/>
                                        <p:tgtEl>
                                          <p:spTgt spid="14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471900" y="176981"/>
            <a:ext cx="8222100" cy="1329544"/>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1200"/>
              </a:spcBef>
              <a:spcAft>
                <a:spcPts val="200"/>
              </a:spcAft>
              <a:buNone/>
            </a:pPr>
            <a:r>
              <a:rPr lang="es-419" sz="3400" b="1" dirty="0"/>
              <a:t>El proceso de despliegue (deploy) del proyecto</a:t>
            </a:r>
            <a:endParaRPr sz="3400" b="1"/>
          </a:p>
        </p:txBody>
      </p:sp>
      <p:sp>
        <p:nvSpPr>
          <p:cNvPr id="150" name="Google Shape;150;p26"/>
          <p:cNvSpPr txBox="1">
            <a:spLocks noGrp="1"/>
          </p:cNvSpPr>
          <p:nvPr>
            <p:ph type="body" idx="1"/>
          </p:nvPr>
        </p:nvSpPr>
        <p:spPr>
          <a:xfrm>
            <a:off x="471900" y="1919075"/>
            <a:ext cx="8222100" cy="27102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1200"/>
              </a:spcBef>
              <a:spcAft>
                <a:spcPts val="0"/>
              </a:spcAft>
              <a:buNone/>
            </a:pPr>
            <a:r>
              <a:rPr lang="es-419" sz="2400" b="1">
                <a:solidFill>
                  <a:srgbClr val="000000"/>
                </a:solidFill>
              </a:rPr>
              <a:t>Vercel -&gt; </a:t>
            </a:r>
            <a:r>
              <a:rPr lang="es-419" sz="2400">
                <a:solidFill>
                  <a:srgbClr val="000000"/>
                </a:solidFill>
              </a:rPr>
              <a:t>Frontend (cliente)</a:t>
            </a:r>
            <a:endParaRPr sz="2400" b="1">
              <a:solidFill>
                <a:srgbClr val="000000"/>
              </a:solidFill>
            </a:endParaRPr>
          </a:p>
          <a:p>
            <a:pPr marL="0" lvl="0" indent="0" algn="ctr" rtl="0">
              <a:spcBef>
                <a:spcPts val="1200"/>
              </a:spcBef>
              <a:spcAft>
                <a:spcPts val="0"/>
              </a:spcAft>
              <a:buNone/>
            </a:pPr>
            <a:r>
              <a:rPr lang="es-419" sz="2400" b="1">
                <a:solidFill>
                  <a:srgbClr val="000000"/>
                </a:solidFill>
              </a:rPr>
              <a:t>Render -&gt; </a:t>
            </a:r>
            <a:r>
              <a:rPr lang="es-419" sz="2400">
                <a:solidFill>
                  <a:srgbClr val="000000"/>
                </a:solidFill>
              </a:rPr>
              <a:t>Backend (server)</a:t>
            </a:r>
            <a:endParaRPr sz="2400" b="1">
              <a:solidFill>
                <a:srgbClr val="000000"/>
              </a:solidFill>
            </a:endParaRPr>
          </a:p>
          <a:p>
            <a:pPr marL="0" lvl="0" indent="0" algn="ctr" rtl="0">
              <a:spcBef>
                <a:spcPts val="1200"/>
              </a:spcBef>
              <a:spcAft>
                <a:spcPts val="0"/>
              </a:spcAft>
              <a:buNone/>
            </a:pPr>
            <a:r>
              <a:rPr lang="es-419" sz="2400" b="1">
                <a:solidFill>
                  <a:srgbClr val="000000"/>
                </a:solidFill>
              </a:rPr>
              <a:t>GitHub -&gt; </a:t>
            </a:r>
            <a:r>
              <a:rPr lang="es-419" sz="2400">
                <a:solidFill>
                  <a:srgbClr val="000000"/>
                </a:solidFill>
              </a:rPr>
              <a:t>Control de versiones y gestión del código</a:t>
            </a:r>
            <a:endParaRPr sz="2400" b="1">
              <a:solidFill>
                <a:srgbClr val="000000"/>
              </a:solidFill>
            </a:endParaRPr>
          </a:p>
          <a:p>
            <a:pPr marL="0" lvl="0" indent="0" algn="ctr" rtl="0">
              <a:spcBef>
                <a:spcPts val="1200"/>
              </a:spcBef>
              <a:spcAft>
                <a:spcPts val="1200"/>
              </a:spcAft>
              <a:buNone/>
            </a:pPr>
            <a:r>
              <a:rPr lang="es-419" sz="2400" b="1">
                <a:solidFill>
                  <a:srgbClr val="000000"/>
                </a:solidFill>
              </a:rPr>
              <a:t>Cloudinary -&gt; </a:t>
            </a:r>
            <a:r>
              <a:rPr lang="es-419" sz="2400">
                <a:solidFill>
                  <a:srgbClr val="000000"/>
                </a:solidFill>
              </a:rPr>
              <a:t>Almacenamiento de imágenes generadas</a:t>
            </a:r>
            <a:endParaRPr sz="2400" b="1">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anim calcmode="lin" valueType="num">
                                      <p:cBhvr additive="base">
                                        <p:cTn id="7" dur="1000"/>
                                        <p:tgtEl>
                                          <p:spTgt spid="149"/>
                                        </p:tgtEl>
                                        <p:attrNameLst>
                                          <p:attrName>ppt_w</p:attrName>
                                        </p:attrNameLst>
                                      </p:cBhvr>
                                      <p:tavLst>
                                        <p:tav tm="0">
                                          <p:val>
                                            <p:strVal val="0"/>
                                          </p:val>
                                        </p:tav>
                                        <p:tav tm="100000">
                                          <p:val>
                                            <p:strVal val="#ppt_w"/>
                                          </p:val>
                                        </p:tav>
                                      </p:tavLst>
                                    </p:anim>
                                    <p:anim calcmode="lin" valueType="num">
                                      <p:cBhvr additive="base">
                                        <p:cTn id="8" dur="1000"/>
                                        <p:tgtEl>
                                          <p:spTgt spid="14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50"/>
                                        </p:tgtEl>
                                        <p:attrNameLst>
                                          <p:attrName>style.visibility</p:attrName>
                                        </p:attrNameLst>
                                      </p:cBhvr>
                                      <p:to>
                                        <p:strVal val="visible"/>
                                      </p:to>
                                    </p:set>
                                    <p:anim calcmode="lin" valueType="num">
                                      <p:cBhvr additive="base">
                                        <p:cTn id="13" dur="1000"/>
                                        <p:tgtEl>
                                          <p:spTgt spid="150"/>
                                        </p:tgtEl>
                                        <p:attrNameLst>
                                          <p:attrName>ppt_w</p:attrName>
                                        </p:attrNameLst>
                                      </p:cBhvr>
                                      <p:tavLst>
                                        <p:tav tm="0">
                                          <p:val>
                                            <p:strVal val="0"/>
                                          </p:val>
                                        </p:tav>
                                        <p:tav tm="100000">
                                          <p:val>
                                            <p:strVal val="#ppt_w"/>
                                          </p:val>
                                        </p:tav>
                                      </p:tavLst>
                                    </p:anim>
                                    <p:anim calcmode="lin" valueType="num">
                                      <p:cBhvr additive="base">
                                        <p:cTn id="14" dur="1000"/>
                                        <p:tgtEl>
                                          <p:spTgt spid="15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7"/>
          <p:cNvSpPr txBox="1">
            <a:spLocks noGrp="1"/>
          </p:cNvSpPr>
          <p:nvPr>
            <p:ph type="title"/>
          </p:nvPr>
        </p:nvSpPr>
        <p:spPr>
          <a:xfrm>
            <a:off x="471900" y="91575"/>
            <a:ext cx="8222100" cy="1481586"/>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1200"/>
              </a:spcBef>
              <a:spcAft>
                <a:spcPts val="200"/>
              </a:spcAft>
              <a:buNone/>
            </a:pPr>
            <a:r>
              <a:rPr lang="es-419" sz="4000" b="1" dirty="0"/>
              <a:t>Tarea: ampliar actividades realizadas</a:t>
            </a:r>
            <a:endParaRPr sz="4000" b="1"/>
          </a:p>
        </p:txBody>
      </p:sp>
      <p:sp>
        <p:nvSpPr>
          <p:cNvPr id="156" name="Google Shape;156;p27"/>
          <p:cNvSpPr txBox="1">
            <a:spLocks noGrp="1"/>
          </p:cNvSpPr>
          <p:nvPr>
            <p:ph type="body" idx="1"/>
          </p:nvPr>
        </p:nvSpPr>
        <p:spPr>
          <a:xfrm>
            <a:off x="471900" y="1919074"/>
            <a:ext cx="8222100" cy="2869235"/>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1200"/>
              </a:spcBef>
              <a:spcAft>
                <a:spcPts val="1200"/>
              </a:spcAft>
              <a:buNone/>
            </a:pPr>
            <a:r>
              <a:rPr lang="es-419" sz="2400" dirty="0">
                <a:solidFill>
                  <a:srgbClr val="000000"/>
                </a:solidFill>
              </a:rPr>
              <a:t>El proyecto de Inteligencia Artificial para la generación de imágenes está compuesto por varios subsistemas interconectados que garantizan su correcto funcionamiento. Estos subsistemas permiten la generación automática de imágenes, el almacenamiento eficiente de datos y la interacción fluida con los usuarios.</a:t>
            </a:r>
            <a:endParaRPr sz="2400">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 calcmode="lin" valueType="num">
                                      <p:cBhvr additive="base">
                                        <p:cTn id="7" dur="1000"/>
                                        <p:tgtEl>
                                          <p:spTgt spid="155"/>
                                        </p:tgtEl>
                                        <p:attrNameLst>
                                          <p:attrName>ppt_w</p:attrName>
                                        </p:attrNameLst>
                                      </p:cBhvr>
                                      <p:tavLst>
                                        <p:tav tm="0">
                                          <p:val>
                                            <p:strVal val="0"/>
                                          </p:val>
                                        </p:tav>
                                        <p:tav tm="100000">
                                          <p:val>
                                            <p:strVal val="#ppt_w"/>
                                          </p:val>
                                        </p:tav>
                                      </p:tavLst>
                                    </p:anim>
                                    <p:anim calcmode="lin" valueType="num">
                                      <p:cBhvr additive="base">
                                        <p:cTn id="8" dur="1000"/>
                                        <p:tgtEl>
                                          <p:spTgt spid="155"/>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56"/>
                                        </p:tgtEl>
                                        <p:attrNameLst>
                                          <p:attrName>style.visibility</p:attrName>
                                        </p:attrNameLst>
                                      </p:cBhvr>
                                      <p:to>
                                        <p:strVal val="visible"/>
                                      </p:to>
                                    </p:set>
                                    <p:anim calcmode="lin" valueType="num">
                                      <p:cBhvr additive="base">
                                        <p:cTn id="13" dur="1000"/>
                                        <p:tgtEl>
                                          <p:spTgt spid="156"/>
                                        </p:tgtEl>
                                        <p:attrNameLst>
                                          <p:attrName>ppt_w</p:attrName>
                                        </p:attrNameLst>
                                      </p:cBhvr>
                                      <p:tavLst>
                                        <p:tav tm="0">
                                          <p:val>
                                            <p:strVal val="0"/>
                                          </p:val>
                                        </p:tav>
                                        <p:tav tm="100000">
                                          <p:val>
                                            <p:strVal val="#ppt_w"/>
                                          </p:val>
                                        </p:tav>
                                      </p:tavLst>
                                    </p:anim>
                                    <p:anim calcmode="lin" valueType="num">
                                      <p:cBhvr additive="base">
                                        <p:cTn id="14" dur="1000"/>
                                        <p:tgtEl>
                                          <p:spTgt spid="15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8"/>
          <p:cNvSpPr txBox="1">
            <a:spLocks noGrp="1"/>
          </p:cNvSpPr>
          <p:nvPr>
            <p:ph type="title"/>
          </p:nvPr>
        </p:nvSpPr>
        <p:spPr>
          <a:xfrm>
            <a:off x="471900" y="127819"/>
            <a:ext cx="8222100" cy="1378631"/>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2400"/>
              </a:spcBef>
              <a:spcAft>
                <a:spcPts val="600"/>
              </a:spcAft>
              <a:buNone/>
            </a:pPr>
            <a:r>
              <a:rPr lang="es-419" sz="3600" b="1" dirty="0"/>
              <a:t>Subsistema de Autenticación y Gestión de Usuarios</a:t>
            </a:r>
            <a:endParaRPr sz="3600"/>
          </a:p>
        </p:txBody>
      </p:sp>
      <p:sp>
        <p:nvSpPr>
          <p:cNvPr id="162" name="Google Shape;162;p28"/>
          <p:cNvSpPr txBox="1">
            <a:spLocks noGrp="1"/>
          </p:cNvSpPr>
          <p:nvPr>
            <p:ph type="body" idx="1"/>
          </p:nvPr>
        </p:nvSpPr>
        <p:spPr>
          <a:xfrm>
            <a:off x="471900" y="1919075"/>
            <a:ext cx="8222100" cy="30816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1200"/>
              </a:spcAft>
              <a:buNone/>
            </a:pPr>
            <a:r>
              <a:rPr lang="es-419" sz="2400">
                <a:solidFill>
                  <a:srgbClr val="000000"/>
                </a:solidFill>
              </a:rPr>
              <a:t>Este subsistema se encarga de la autenticación y gestión de usuarios en la plataforma, permitiendo iniciar sesión, registrarse y administrar el perfil. Se comunica con el subsistema de base de datos para validar credenciales, con la interfaz de usuario para mostrar formularios de login y registro, y con el API/backend para gestionar la autenticación mediante el envío y recepción de datos.</a:t>
            </a:r>
            <a:endParaRPr sz="2400">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61"/>
                                        </p:tgtEl>
                                        <p:attrNameLst>
                                          <p:attrName>style.visibility</p:attrName>
                                        </p:attrNameLst>
                                      </p:cBhvr>
                                      <p:to>
                                        <p:strVal val="visible"/>
                                      </p:to>
                                    </p:set>
                                    <p:anim calcmode="lin" valueType="num">
                                      <p:cBhvr additive="base">
                                        <p:cTn id="7" dur="1000"/>
                                        <p:tgtEl>
                                          <p:spTgt spid="161"/>
                                        </p:tgtEl>
                                        <p:attrNameLst>
                                          <p:attrName>ppt_w</p:attrName>
                                        </p:attrNameLst>
                                      </p:cBhvr>
                                      <p:tavLst>
                                        <p:tav tm="0">
                                          <p:val>
                                            <p:strVal val="0"/>
                                          </p:val>
                                        </p:tav>
                                        <p:tav tm="100000">
                                          <p:val>
                                            <p:strVal val="#ppt_w"/>
                                          </p:val>
                                        </p:tav>
                                      </p:tavLst>
                                    </p:anim>
                                    <p:anim calcmode="lin" valueType="num">
                                      <p:cBhvr additive="base">
                                        <p:cTn id="8" dur="1000"/>
                                        <p:tgtEl>
                                          <p:spTgt spid="16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62"/>
                                        </p:tgtEl>
                                        <p:attrNameLst>
                                          <p:attrName>style.visibility</p:attrName>
                                        </p:attrNameLst>
                                      </p:cBhvr>
                                      <p:to>
                                        <p:strVal val="visible"/>
                                      </p:to>
                                    </p:set>
                                    <p:anim calcmode="lin" valueType="num">
                                      <p:cBhvr additive="base">
                                        <p:cTn id="13" dur="1000"/>
                                        <p:tgtEl>
                                          <p:spTgt spid="162"/>
                                        </p:tgtEl>
                                        <p:attrNameLst>
                                          <p:attrName>ppt_w</p:attrName>
                                        </p:attrNameLst>
                                      </p:cBhvr>
                                      <p:tavLst>
                                        <p:tav tm="0">
                                          <p:val>
                                            <p:strVal val="0"/>
                                          </p:val>
                                        </p:tav>
                                        <p:tav tm="100000">
                                          <p:val>
                                            <p:strVal val="#ppt_w"/>
                                          </p:val>
                                        </p:tav>
                                      </p:tavLst>
                                    </p:anim>
                                    <p:anim calcmode="lin" valueType="num">
                                      <p:cBhvr additive="base">
                                        <p:cTn id="14" dur="1000"/>
                                        <p:tgtEl>
                                          <p:spTgt spid="16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9"/>
          <p:cNvSpPr txBox="1">
            <a:spLocks noGrp="1"/>
          </p:cNvSpPr>
          <p:nvPr>
            <p:ph type="title"/>
          </p:nvPr>
        </p:nvSpPr>
        <p:spPr>
          <a:xfrm>
            <a:off x="471900" y="127819"/>
            <a:ext cx="8222100" cy="1378631"/>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2400"/>
              </a:spcBef>
              <a:spcAft>
                <a:spcPts val="600"/>
              </a:spcAft>
              <a:buNone/>
            </a:pPr>
            <a:r>
              <a:rPr lang="es-419" sz="3600" b="1" dirty="0"/>
              <a:t>Subsistema de Interfaz de Usuario (Frontend)</a:t>
            </a:r>
            <a:endParaRPr sz="3600" b="1"/>
          </a:p>
        </p:txBody>
      </p:sp>
      <p:sp>
        <p:nvSpPr>
          <p:cNvPr id="168" name="Google Shape;168;p29"/>
          <p:cNvSpPr txBox="1">
            <a:spLocks noGrp="1"/>
          </p:cNvSpPr>
          <p:nvPr>
            <p:ph type="body" idx="1"/>
          </p:nvPr>
        </p:nvSpPr>
        <p:spPr>
          <a:xfrm>
            <a:off x="471900" y="1919075"/>
            <a:ext cx="8222100" cy="30816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1200"/>
              </a:spcAft>
              <a:buNone/>
            </a:pPr>
            <a:r>
              <a:rPr lang="es-419" sz="2400">
                <a:solidFill>
                  <a:srgbClr val="000000"/>
                </a:solidFill>
              </a:rPr>
              <a:t>Este subsistema proporciona la interfaz gráfica con la que interactúa el usuario final. Permite ingresar prompts para generar imágenes y visualizar los resultados. Se conecta con el subsistema de autenticación para el inicio de sesión y registro, envía solicitudes al backend para la generación de imágenes y muestra los resultados provenientes del subsistema de generación.</a:t>
            </a:r>
            <a:endParaRPr sz="2400">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67"/>
                                        </p:tgtEl>
                                        <p:attrNameLst>
                                          <p:attrName>style.visibility</p:attrName>
                                        </p:attrNameLst>
                                      </p:cBhvr>
                                      <p:to>
                                        <p:strVal val="visible"/>
                                      </p:to>
                                    </p:set>
                                    <p:anim calcmode="lin" valueType="num">
                                      <p:cBhvr additive="base">
                                        <p:cTn id="7" dur="1000"/>
                                        <p:tgtEl>
                                          <p:spTgt spid="167"/>
                                        </p:tgtEl>
                                        <p:attrNameLst>
                                          <p:attrName>ppt_w</p:attrName>
                                        </p:attrNameLst>
                                      </p:cBhvr>
                                      <p:tavLst>
                                        <p:tav tm="0">
                                          <p:val>
                                            <p:strVal val="0"/>
                                          </p:val>
                                        </p:tav>
                                        <p:tav tm="100000">
                                          <p:val>
                                            <p:strVal val="#ppt_w"/>
                                          </p:val>
                                        </p:tav>
                                      </p:tavLst>
                                    </p:anim>
                                    <p:anim calcmode="lin" valueType="num">
                                      <p:cBhvr additive="base">
                                        <p:cTn id="8" dur="1000"/>
                                        <p:tgtEl>
                                          <p:spTgt spid="16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68"/>
                                        </p:tgtEl>
                                        <p:attrNameLst>
                                          <p:attrName>style.visibility</p:attrName>
                                        </p:attrNameLst>
                                      </p:cBhvr>
                                      <p:to>
                                        <p:strVal val="visible"/>
                                      </p:to>
                                    </p:set>
                                    <p:anim calcmode="lin" valueType="num">
                                      <p:cBhvr additive="base">
                                        <p:cTn id="13" dur="1000"/>
                                        <p:tgtEl>
                                          <p:spTgt spid="168"/>
                                        </p:tgtEl>
                                        <p:attrNameLst>
                                          <p:attrName>ppt_w</p:attrName>
                                        </p:attrNameLst>
                                      </p:cBhvr>
                                      <p:tavLst>
                                        <p:tav tm="0">
                                          <p:val>
                                            <p:strVal val="0"/>
                                          </p:val>
                                        </p:tav>
                                        <p:tav tm="100000">
                                          <p:val>
                                            <p:strVal val="#ppt_w"/>
                                          </p:val>
                                        </p:tav>
                                      </p:tavLst>
                                    </p:anim>
                                    <p:anim calcmode="lin" valueType="num">
                                      <p:cBhvr additive="base">
                                        <p:cTn id="14" dur="1000"/>
                                        <p:tgtEl>
                                          <p:spTgt spid="16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0"/>
          <p:cNvSpPr txBox="1">
            <a:spLocks noGrp="1"/>
          </p:cNvSpPr>
          <p:nvPr>
            <p:ph type="title"/>
          </p:nvPr>
        </p:nvSpPr>
        <p:spPr>
          <a:xfrm>
            <a:off x="566150" y="417400"/>
            <a:ext cx="8222100" cy="982800"/>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2400"/>
              </a:spcBef>
              <a:spcAft>
                <a:spcPts val="600"/>
              </a:spcAft>
              <a:buNone/>
            </a:pPr>
            <a:r>
              <a:rPr lang="es-419" sz="3600" b="1"/>
              <a:t>Subsistema de API y Backend</a:t>
            </a:r>
            <a:endParaRPr sz="3600" b="1"/>
          </a:p>
        </p:txBody>
      </p:sp>
      <p:sp>
        <p:nvSpPr>
          <p:cNvPr id="174" name="Google Shape;174;p30"/>
          <p:cNvSpPr txBox="1">
            <a:spLocks noGrp="1"/>
          </p:cNvSpPr>
          <p:nvPr>
            <p:ph type="body" idx="1"/>
          </p:nvPr>
        </p:nvSpPr>
        <p:spPr>
          <a:xfrm>
            <a:off x="471900" y="1919075"/>
            <a:ext cx="8222100" cy="30816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1200"/>
              </a:spcAft>
              <a:buNone/>
            </a:pPr>
            <a:r>
              <a:rPr lang="es-419" sz="2400">
                <a:solidFill>
                  <a:srgbClr val="000000"/>
                </a:solidFill>
              </a:rPr>
              <a:t>Este subsistema maneja la lógica del negocio y actúa como puente entre la interfaz de usuario y la base de datos. Procesa las solicitudes del frontend, valida credenciales con el subsistema de autenticación, se comunica con el subsistema de generación de imágenes para enviar prompts, y almacena la información en la base de datos.</a:t>
            </a:r>
            <a:endParaRPr sz="2400">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anim calcmode="lin" valueType="num">
                                      <p:cBhvr additive="base">
                                        <p:cTn id="7" dur="1000"/>
                                        <p:tgtEl>
                                          <p:spTgt spid="173"/>
                                        </p:tgtEl>
                                        <p:attrNameLst>
                                          <p:attrName>ppt_w</p:attrName>
                                        </p:attrNameLst>
                                      </p:cBhvr>
                                      <p:tavLst>
                                        <p:tav tm="0">
                                          <p:val>
                                            <p:strVal val="0"/>
                                          </p:val>
                                        </p:tav>
                                        <p:tav tm="100000">
                                          <p:val>
                                            <p:strVal val="#ppt_w"/>
                                          </p:val>
                                        </p:tav>
                                      </p:tavLst>
                                    </p:anim>
                                    <p:anim calcmode="lin" valueType="num">
                                      <p:cBhvr additive="base">
                                        <p:cTn id="8" dur="1000"/>
                                        <p:tgtEl>
                                          <p:spTgt spid="173"/>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74"/>
                                        </p:tgtEl>
                                        <p:attrNameLst>
                                          <p:attrName>style.visibility</p:attrName>
                                        </p:attrNameLst>
                                      </p:cBhvr>
                                      <p:to>
                                        <p:strVal val="visible"/>
                                      </p:to>
                                    </p:set>
                                    <p:anim calcmode="lin" valueType="num">
                                      <p:cBhvr additive="base">
                                        <p:cTn id="13" dur="1000"/>
                                        <p:tgtEl>
                                          <p:spTgt spid="174"/>
                                        </p:tgtEl>
                                        <p:attrNameLst>
                                          <p:attrName>ppt_w</p:attrName>
                                        </p:attrNameLst>
                                      </p:cBhvr>
                                      <p:tavLst>
                                        <p:tav tm="0">
                                          <p:val>
                                            <p:strVal val="0"/>
                                          </p:val>
                                        </p:tav>
                                        <p:tav tm="100000">
                                          <p:val>
                                            <p:strVal val="#ppt_w"/>
                                          </p:val>
                                        </p:tav>
                                      </p:tavLst>
                                    </p:anim>
                                    <p:anim calcmode="lin" valueType="num">
                                      <p:cBhvr additive="base">
                                        <p:cTn id="14" dur="1000"/>
                                        <p:tgtEl>
                                          <p:spTgt spid="17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1"/>
          <p:cNvSpPr txBox="1">
            <a:spLocks noGrp="1"/>
          </p:cNvSpPr>
          <p:nvPr>
            <p:ph type="title"/>
          </p:nvPr>
        </p:nvSpPr>
        <p:spPr>
          <a:xfrm>
            <a:off x="471900" y="117987"/>
            <a:ext cx="8222100" cy="1388463"/>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2400"/>
              </a:spcBef>
              <a:spcAft>
                <a:spcPts val="600"/>
              </a:spcAft>
              <a:buNone/>
            </a:pPr>
            <a:r>
              <a:rPr lang="es-419" sz="3600" b="1" dirty="0"/>
              <a:t>Subsistema de Generación de Imágenes (IA)</a:t>
            </a:r>
            <a:endParaRPr sz="3600" b="1"/>
          </a:p>
        </p:txBody>
      </p:sp>
      <p:sp>
        <p:nvSpPr>
          <p:cNvPr id="180" name="Google Shape;180;p31"/>
          <p:cNvSpPr txBox="1">
            <a:spLocks noGrp="1"/>
          </p:cNvSpPr>
          <p:nvPr>
            <p:ph type="body" idx="1"/>
          </p:nvPr>
        </p:nvSpPr>
        <p:spPr>
          <a:xfrm>
            <a:off x="471900" y="1919075"/>
            <a:ext cx="8222100" cy="30816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1200"/>
              </a:spcAft>
              <a:buNone/>
            </a:pPr>
            <a:r>
              <a:rPr lang="es-419" sz="2200" dirty="0">
                <a:solidFill>
                  <a:srgbClr val="000000"/>
                </a:solidFill>
              </a:rPr>
              <a:t>Este subsistema emplea un modelo de Inteligencia Artificial de Hugging Face para generar imágenes a partir de los prompts ingresados por los usuarios registrados. Recibe descripciones desde el backend, genera las imágenes y las devuelve para su almacenamiento. Se comunica tanto con el backend como con el subsistema de almacenamiento para guardar los resultados generados.</a:t>
            </a:r>
            <a:endParaRPr sz="2200">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 calcmode="lin" valueType="num">
                                      <p:cBhvr additive="base">
                                        <p:cTn id="7" dur="1000"/>
                                        <p:tgtEl>
                                          <p:spTgt spid="179"/>
                                        </p:tgtEl>
                                        <p:attrNameLst>
                                          <p:attrName>ppt_w</p:attrName>
                                        </p:attrNameLst>
                                      </p:cBhvr>
                                      <p:tavLst>
                                        <p:tav tm="0">
                                          <p:val>
                                            <p:strVal val="0"/>
                                          </p:val>
                                        </p:tav>
                                        <p:tav tm="100000">
                                          <p:val>
                                            <p:strVal val="#ppt_w"/>
                                          </p:val>
                                        </p:tav>
                                      </p:tavLst>
                                    </p:anim>
                                    <p:anim calcmode="lin" valueType="num">
                                      <p:cBhvr additive="base">
                                        <p:cTn id="8" dur="1000"/>
                                        <p:tgtEl>
                                          <p:spTgt spid="179"/>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80"/>
                                        </p:tgtEl>
                                        <p:attrNameLst>
                                          <p:attrName>style.visibility</p:attrName>
                                        </p:attrNameLst>
                                      </p:cBhvr>
                                      <p:to>
                                        <p:strVal val="visible"/>
                                      </p:to>
                                    </p:set>
                                    <p:anim calcmode="lin" valueType="num">
                                      <p:cBhvr additive="base">
                                        <p:cTn id="13" dur="1000"/>
                                        <p:tgtEl>
                                          <p:spTgt spid="180"/>
                                        </p:tgtEl>
                                        <p:attrNameLst>
                                          <p:attrName>ppt_w</p:attrName>
                                        </p:attrNameLst>
                                      </p:cBhvr>
                                      <p:tavLst>
                                        <p:tav tm="0">
                                          <p:val>
                                            <p:strVal val="0"/>
                                          </p:val>
                                        </p:tav>
                                        <p:tav tm="100000">
                                          <p:val>
                                            <p:strVal val="#ppt_w"/>
                                          </p:val>
                                        </p:tav>
                                      </p:tavLst>
                                    </p:anim>
                                    <p:anim calcmode="lin" valueType="num">
                                      <p:cBhvr additive="base">
                                        <p:cTn id="14" dur="1000"/>
                                        <p:tgtEl>
                                          <p:spTgt spid="18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2"/>
          <p:cNvSpPr txBox="1">
            <a:spLocks noGrp="1"/>
          </p:cNvSpPr>
          <p:nvPr>
            <p:ph type="title"/>
          </p:nvPr>
        </p:nvSpPr>
        <p:spPr>
          <a:xfrm>
            <a:off x="471900" y="117987"/>
            <a:ext cx="8222100" cy="1388463"/>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2400"/>
              </a:spcBef>
              <a:spcAft>
                <a:spcPts val="600"/>
              </a:spcAft>
              <a:buNone/>
            </a:pPr>
            <a:r>
              <a:rPr lang="es-419" sz="3600" b="1" dirty="0"/>
              <a:t>Subsistema de Base de Datos (MongoDB)</a:t>
            </a:r>
            <a:endParaRPr sz="3600" b="1"/>
          </a:p>
        </p:txBody>
      </p:sp>
      <p:sp>
        <p:nvSpPr>
          <p:cNvPr id="186" name="Google Shape;186;p32"/>
          <p:cNvSpPr txBox="1">
            <a:spLocks noGrp="1"/>
          </p:cNvSpPr>
          <p:nvPr>
            <p:ph type="body" idx="1"/>
          </p:nvPr>
        </p:nvSpPr>
        <p:spPr>
          <a:xfrm>
            <a:off x="471900" y="1919075"/>
            <a:ext cx="8222100" cy="30816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1200"/>
              </a:spcAft>
              <a:buNone/>
            </a:pPr>
            <a:r>
              <a:rPr lang="es-419" sz="2400">
                <a:solidFill>
                  <a:srgbClr val="000000"/>
                </a:solidFill>
              </a:rPr>
              <a:t>Este subsistema almacena la información del sistema, incluyendo datos de usuarios, imágenes generadas y configuraciones. Recibe solicitudes del backend para guardar o recuperar información, almacena credenciales del subsistema de autenticación y registra los prompts y resultados generados por el subsistema de IA.</a:t>
            </a:r>
            <a:endParaRPr sz="2400">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85"/>
                                        </p:tgtEl>
                                        <p:attrNameLst>
                                          <p:attrName>style.visibility</p:attrName>
                                        </p:attrNameLst>
                                      </p:cBhvr>
                                      <p:to>
                                        <p:strVal val="visible"/>
                                      </p:to>
                                    </p:set>
                                    <p:anim calcmode="lin" valueType="num">
                                      <p:cBhvr additive="base">
                                        <p:cTn id="7" dur="1000"/>
                                        <p:tgtEl>
                                          <p:spTgt spid="185"/>
                                        </p:tgtEl>
                                        <p:attrNameLst>
                                          <p:attrName>ppt_w</p:attrName>
                                        </p:attrNameLst>
                                      </p:cBhvr>
                                      <p:tavLst>
                                        <p:tav tm="0">
                                          <p:val>
                                            <p:strVal val="0"/>
                                          </p:val>
                                        </p:tav>
                                        <p:tav tm="100000">
                                          <p:val>
                                            <p:strVal val="#ppt_w"/>
                                          </p:val>
                                        </p:tav>
                                      </p:tavLst>
                                    </p:anim>
                                    <p:anim calcmode="lin" valueType="num">
                                      <p:cBhvr additive="base">
                                        <p:cTn id="8" dur="1000"/>
                                        <p:tgtEl>
                                          <p:spTgt spid="185"/>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86"/>
                                        </p:tgtEl>
                                        <p:attrNameLst>
                                          <p:attrName>style.visibility</p:attrName>
                                        </p:attrNameLst>
                                      </p:cBhvr>
                                      <p:to>
                                        <p:strVal val="visible"/>
                                      </p:to>
                                    </p:set>
                                    <p:anim calcmode="lin" valueType="num">
                                      <p:cBhvr additive="base">
                                        <p:cTn id="13" dur="1000"/>
                                        <p:tgtEl>
                                          <p:spTgt spid="186"/>
                                        </p:tgtEl>
                                        <p:attrNameLst>
                                          <p:attrName>ppt_w</p:attrName>
                                        </p:attrNameLst>
                                      </p:cBhvr>
                                      <p:tavLst>
                                        <p:tav tm="0">
                                          <p:val>
                                            <p:strVal val="0"/>
                                          </p:val>
                                        </p:tav>
                                        <p:tav tm="100000">
                                          <p:val>
                                            <p:strVal val="#ppt_w"/>
                                          </p:val>
                                        </p:tav>
                                      </p:tavLst>
                                    </p:anim>
                                    <p:anim calcmode="lin" valueType="num">
                                      <p:cBhvr additive="base">
                                        <p:cTn id="14" dur="1000"/>
                                        <p:tgtEl>
                                          <p:spTgt spid="18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3"/>
          <p:cNvSpPr txBox="1">
            <a:spLocks noGrp="1"/>
          </p:cNvSpPr>
          <p:nvPr>
            <p:ph type="title"/>
          </p:nvPr>
        </p:nvSpPr>
        <p:spPr>
          <a:xfrm>
            <a:off x="471900" y="127819"/>
            <a:ext cx="8222100" cy="1378631"/>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2400"/>
              </a:spcBef>
              <a:spcAft>
                <a:spcPts val="600"/>
              </a:spcAft>
              <a:buNone/>
            </a:pPr>
            <a:r>
              <a:rPr lang="es-419" sz="3600" b="1" dirty="0"/>
              <a:t>Subsistema de Almacenamiento de Imágenes (Cloudinary)</a:t>
            </a:r>
            <a:endParaRPr sz="3600" b="1"/>
          </a:p>
        </p:txBody>
      </p:sp>
      <p:sp>
        <p:nvSpPr>
          <p:cNvPr id="192" name="Google Shape;192;p33"/>
          <p:cNvSpPr txBox="1">
            <a:spLocks noGrp="1"/>
          </p:cNvSpPr>
          <p:nvPr>
            <p:ph type="body" idx="1"/>
          </p:nvPr>
        </p:nvSpPr>
        <p:spPr>
          <a:xfrm>
            <a:off x="471900" y="1919075"/>
            <a:ext cx="8222100" cy="30816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1200"/>
              </a:spcAft>
              <a:buNone/>
            </a:pPr>
            <a:r>
              <a:rPr lang="es-419" sz="2400">
                <a:solidFill>
                  <a:srgbClr val="000000"/>
                </a:solidFill>
              </a:rPr>
              <a:t>Este subsistema gestiona el almacenamiento en la nube de las imágenes generadas por la IA. Recibe archivos desde el subsistema de generación de imágenes, los guarda de forma segura y permite su recuperación. Además, facilita al backend el acceso a las imágenes y proporciona sus URLs al frontend para que los usuarios puedan visualizarlas fácilmente.</a:t>
            </a:r>
            <a:endParaRPr sz="2400">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anim calcmode="lin" valueType="num">
                                      <p:cBhvr additive="base">
                                        <p:cTn id="7" dur="1000"/>
                                        <p:tgtEl>
                                          <p:spTgt spid="191"/>
                                        </p:tgtEl>
                                        <p:attrNameLst>
                                          <p:attrName>ppt_w</p:attrName>
                                        </p:attrNameLst>
                                      </p:cBhvr>
                                      <p:tavLst>
                                        <p:tav tm="0">
                                          <p:val>
                                            <p:strVal val="0"/>
                                          </p:val>
                                        </p:tav>
                                        <p:tav tm="100000">
                                          <p:val>
                                            <p:strVal val="#ppt_w"/>
                                          </p:val>
                                        </p:tav>
                                      </p:tavLst>
                                    </p:anim>
                                    <p:anim calcmode="lin" valueType="num">
                                      <p:cBhvr additive="base">
                                        <p:cTn id="8" dur="1000"/>
                                        <p:tgtEl>
                                          <p:spTgt spid="191"/>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92"/>
                                        </p:tgtEl>
                                        <p:attrNameLst>
                                          <p:attrName>style.visibility</p:attrName>
                                        </p:attrNameLst>
                                      </p:cBhvr>
                                      <p:to>
                                        <p:strVal val="visible"/>
                                      </p:to>
                                    </p:set>
                                    <p:anim calcmode="lin" valueType="num">
                                      <p:cBhvr additive="base">
                                        <p:cTn id="13" dur="1000"/>
                                        <p:tgtEl>
                                          <p:spTgt spid="192"/>
                                        </p:tgtEl>
                                        <p:attrNameLst>
                                          <p:attrName>ppt_w</p:attrName>
                                        </p:attrNameLst>
                                      </p:cBhvr>
                                      <p:tavLst>
                                        <p:tav tm="0">
                                          <p:val>
                                            <p:strVal val="0"/>
                                          </p:val>
                                        </p:tav>
                                        <p:tav tm="100000">
                                          <p:val>
                                            <p:strVal val="#ppt_w"/>
                                          </p:val>
                                        </p:tav>
                                      </p:tavLst>
                                    </p:anim>
                                    <p:anim calcmode="lin" valueType="num">
                                      <p:cBhvr additive="base">
                                        <p:cTn id="14" dur="1000"/>
                                        <p:tgtEl>
                                          <p:spTgt spid="19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4"/>
          <p:cNvSpPr txBox="1">
            <a:spLocks noGrp="1"/>
          </p:cNvSpPr>
          <p:nvPr>
            <p:ph type="title"/>
          </p:nvPr>
        </p:nvSpPr>
        <p:spPr>
          <a:xfrm>
            <a:off x="471900" y="127818"/>
            <a:ext cx="8222100" cy="1484671"/>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0"/>
              </a:spcBef>
              <a:spcAft>
                <a:spcPts val="1200"/>
              </a:spcAft>
              <a:buNone/>
            </a:pPr>
            <a:r>
              <a:rPr lang="es-419" sz="3600" b="1" dirty="0"/>
              <a:t>Buscador de imágenes (del botón “Hugging Face”)</a:t>
            </a:r>
            <a:endParaRPr sz="3600" b="1"/>
          </a:p>
        </p:txBody>
      </p:sp>
      <p:pic>
        <p:nvPicPr>
          <p:cNvPr id="198" name="Google Shape;198;p34"/>
          <p:cNvPicPr preferRelativeResize="0"/>
          <p:nvPr/>
        </p:nvPicPr>
        <p:blipFill>
          <a:blip r:embed="rId3">
            <a:alphaModFix/>
          </a:blip>
          <a:stretch>
            <a:fillRect/>
          </a:stretch>
        </p:blipFill>
        <p:spPr>
          <a:xfrm>
            <a:off x="552700" y="1892150"/>
            <a:ext cx="8222099" cy="2710200"/>
          </a:xfrm>
          <a:prstGeom prst="rect">
            <a:avLst/>
          </a:prstGeom>
          <a:noFill/>
          <a:ln>
            <a:noFill/>
          </a:ln>
        </p:spPr>
      </p:pic>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197"/>
                                        </p:tgtEl>
                                        <p:attrNameLst>
                                          <p:attrName>style.visibility</p:attrName>
                                        </p:attrNameLst>
                                      </p:cBhvr>
                                      <p:to>
                                        <p:strVal val="visible"/>
                                      </p:to>
                                    </p:set>
                                    <p:anim calcmode="lin" valueType="num">
                                      <p:cBhvr additive="base">
                                        <p:cTn id="7" dur="1000"/>
                                        <p:tgtEl>
                                          <p:spTgt spid="197"/>
                                        </p:tgtEl>
                                        <p:attrNameLst>
                                          <p:attrName>ppt_w</p:attrName>
                                        </p:attrNameLst>
                                      </p:cBhvr>
                                      <p:tavLst>
                                        <p:tav tm="0">
                                          <p:val>
                                            <p:strVal val="0"/>
                                          </p:val>
                                        </p:tav>
                                        <p:tav tm="100000">
                                          <p:val>
                                            <p:strVal val="#ppt_w"/>
                                          </p:val>
                                        </p:tav>
                                      </p:tavLst>
                                    </p:anim>
                                    <p:anim calcmode="lin" valueType="num">
                                      <p:cBhvr additive="base">
                                        <p:cTn id="8" dur="1000"/>
                                        <p:tgtEl>
                                          <p:spTgt spid="197"/>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198"/>
                                        </p:tgtEl>
                                        <p:attrNameLst>
                                          <p:attrName>style.visibility</p:attrName>
                                        </p:attrNameLst>
                                      </p:cBhvr>
                                      <p:to>
                                        <p:strVal val="visible"/>
                                      </p:to>
                                    </p:set>
                                    <p:anim calcmode="lin" valueType="num">
                                      <p:cBhvr additive="base">
                                        <p:cTn id="13" dur="1000"/>
                                        <p:tgtEl>
                                          <p:spTgt spid="198"/>
                                        </p:tgtEl>
                                        <p:attrNameLst>
                                          <p:attrName>ppt_w</p:attrName>
                                        </p:attrNameLst>
                                      </p:cBhvr>
                                      <p:tavLst>
                                        <p:tav tm="0">
                                          <p:val>
                                            <p:strVal val="0"/>
                                          </p:val>
                                        </p:tav>
                                        <p:tav tm="100000">
                                          <p:val>
                                            <p:strVal val="#ppt_w"/>
                                          </p:val>
                                        </p:tav>
                                      </p:tavLst>
                                    </p:anim>
                                    <p:anim calcmode="lin" valueType="num">
                                      <p:cBhvr additive="base">
                                        <p:cTn id="14" dur="1000"/>
                                        <p:tgtEl>
                                          <p:spTgt spid="19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5"/>
          <p:cNvSpPr txBox="1">
            <a:spLocks noGrp="1"/>
          </p:cNvSpPr>
          <p:nvPr>
            <p:ph type="title"/>
          </p:nvPr>
        </p:nvSpPr>
        <p:spPr>
          <a:xfrm>
            <a:off x="471900" y="619432"/>
            <a:ext cx="8222100" cy="886993"/>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rmAutofit fontScale="90000"/>
          </a:bodyPr>
          <a:lstStyle/>
          <a:p>
            <a:pPr marL="0" lvl="0" indent="0" algn="ctr" rtl="0">
              <a:lnSpc>
                <a:spcPct val="115000"/>
              </a:lnSpc>
              <a:spcBef>
                <a:spcPts val="1400"/>
              </a:spcBef>
              <a:spcAft>
                <a:spcPts val="400"/>
              </a:spcAft>
              <a:buNone/>
            </a:pPr>
            <a:r>
              <a:rPr lang="es-419" sz="3000" b="1" dirty="0"/>
              <a:t>Generador de imágenes (del botón “Crear”)</a:t>
            </a:r>
            <a:endParaRPr sz="3000" b="1"/>
          </a:p>
        </p:txBody>
      </p:sp>
      <p:sp>
        <p:nvSpPr>
          <p:cNvPr id="204" name="Google Shape;204;p35"/>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05" name="Google Shape;205;p35"/>
          <p:cNvPicPr preferRelativeResize="0"/>
          <p:nvPr/>
        </p:nvPicPr>
        <p:blipFill>
          <a:blip r:embed="rId3">
            <a:alphaModFix/>
          </a:blip>
          <a:stretch>
            <a:fillRect/>
          </a:stretch>
        </p:blipFill>
        <p:spPr>
          <a:xfrm>
            <a:off x="0" y="1792750"/>
            <a:ext cx="9144001" cy="3276600"/>
          </a:xfrm>
          <a:prstGeom prst="rect">
            <a:avLst/>
          </a:prstGeom>
          <a:noFill/>
          <a:ln>
            <a:noFill/>
          </a:ln>
        </p:spPr>
      </p:pic>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03"/>
                                        </p:tgtEl>
                                        <p:attrNameLst>
                                          <p:attrName>style.visibility</p:attrName>
                                        </p:attrNameLst>
                                      </p:cBhvr>
                                      <p:to>
                                        <p:strVal val="visible"/>
                                      </p:to>
                                    </p:set>
                                    <p:anim calcmode="lin" valueType="num">
                                      <p:cBhvr additive="base">
                                        <p:cTn id="7" dur="1000"/>
                                        <p:tgtEl>
                                          <p:spTgt spid="203"/>
                                        </p:tgtEl>
                                        <p:attrNameLst>
                                          <p:attrName>ppt_w</p:attrName>
                                        </p:attrNameLst>
                                      </p:cBhvr>
                                      <p:tavLst>
                                        <p:tav tm="0">
                                          <p:val>
                                            <p:strVal val="0"/>
                                          </p:val>
                                        </p:tav>
                                        <p:tav tm="100000">
                                          <p:val>
                                            <p:strVal val="#ppt_w"/>
                                          </p:val>
                                        </p:tav>
                                      </p:tavLst>
                                    </p:anim>
                                    <p:anim calcmode="lin" valueType="num">
                                      <p:cBhvr additive="base">
                                        <p:cTn id="8" dur="1000"/>
                                        <p:tgtEl>
                                          <p:spTgt spid="203"/>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05"/>
                                        </p:tgtEl>
                                        <p:attrNameLst>
                                          <p:attrName>style.visibility</p:attrName>
                                        </p:attrNameLst>
                                      </p:cBhvr>
                                      <p:to>
                                        <p:strVal val="visible"/>
                                      </p:to>
                                    </p:set>
                                    <p:anim calcmode="lin" valueType="num">
                                      <p:cBhvr additive="base">
                                        <p:cTn id="13" dur="1000"/>
                                        <p:tgtEl>
                                          <p:spTgt spid="205"/>
                                        </p:tgtEl>
                                        <p:attrNameLst>
                                          <p:attrName>ppt_w</p:attrName>
                                        </p:attrNameLst>
                                      </p:cBhvr>
                                      <p:tavLst>
                                        <p:tav tm="0">
                                          <p:val>
                                            <p:strVal val="0"/>
                                          </p:val>
                                        </p:tav>
                                        <p:tav tm="100000">
                                          <p:val>
                                            <p:strVal val="#ppt_w"/>
                                          </p:val>
                                        </p:tav>
                                      </p:tavLst>
                                    </p:anim>
                                    <p:anim calcmode="lin" valueType="num">
                                      <p:cBhvr additive="base">
                                        <p:cTn id="14" dur="1000"/>
                                        <p:tgtEl>
                                          <p:spTgt spid="20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6"/>
          <p:cNvSpPr txBox="1">
            <a:spLocks noGrp="1"/>
          </p:cNvSpPr>
          <p:nvPr>
            <p:ph type="title"/>
          </p:nvPr>
        </p:nvSpPr>
        <p:spPr>
          <a:xfrm>
            <a:off x="471900" y="560439"/>
            <a:ext cx="8222100" cy="946136"/>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1400"/>
              </a:spcBef>
              <a:spcAft>
                <a:spcPts val="400"/>
              </a:spcAft>
              <a:buNone/>
            </a:pPr>
            <a:r>
              <a:rPr lang="es-419" sz="4800" b="1" dirty="0"/>
              <a:t>Tipos de Pruebas</a:t>
            </a:r>
            <a:endParaRPr sz="4800" b="1"/>
          </a:p>
        </p:txBody>
      </p:sp>
      <p:sp>
        <p:nvSpPr>
          <p:cNvPr id="211" name="Google Shape;211;p36"/>
          <p:cNvSpPr txBox="1">
            <a:spLocks noGrp="1"/>
          </p:cNvSpPr>
          <p:nvPr>
            <p:ph type="body" idx="1"/>
          </p:nvPr>
        </p:nvSpPr>
        <p:spPr>
          <a:xfrm>
            <a:off x="471900" y="1919075"/>
            <a:ext cx="8222100" cy="27102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rmAutofit lnSpcReduction="10000"/>
          </a:bodyPr>
          <a:lstStyle/>
          <a:p>
            <a:pPr marL="0" lvl="0" indent="0" algn="ctr" rtl="0">
              <a:lnSpc>
                <a:spcPct val="115000"/>
              </a:lnSpc>
              <a:spcBef>
                <a:spcPts val="1200"/>
              </a:spcBef>
              <a:spcAft>
                <a:spcPts val="0"/>
              </a:spcAft>
              <a:buNone/>
            </a:pPr>
            <a:r>
              <a:rPr lang="es-419" sz="3000" b="1">
                <a:solidFill>
                  <a:srgbClr val="000000"/>
                </a:solidFill>
              </a:rPr>
              <a:t>. Pruebas Unitarias y de Componentes</a:t>
            </a:r>
            <a:endParaRPr sz="3000" b="1">
              <a:solidFill>
                <a:srgbClr val="000000"/>
              </a:solidFill>
            </a:endParaRPr>
          </a:p>
          <a:p>
            <a:pPr marL="0" lvl="0" indent="0" algn="ctr" rtl="0">
              <a:lnSpc>
                <a:spcPct val="115000"/>
              </a:lnSpc>
              <a:spcBef>
                <a:spcPts val="1200"/>
              </a:spcBef>
              <a:spcAft>
                <a:spcPts val="0"/>
              </a:spcAft>
              <a:buNone/>
            </a:pPr>
            <a:r>
              <a:rPr lang="es-419" sz="3000" b="1">
                <a:solidFill>
                  <a:srgbClr val="000000"/>
                </a:solidFill>
              </a:rPr>
              <a:t>. Pruebas de Regresión (Regression Testing)</a:t>
            </a:r>
            <a:endParaRPr sz="3000" b="1">
              <a:solidFill>
                <a:srgbClr val="000000"/>
              </a:solidFill>
            </a:endParaRPr>
          </a:p>
          <a:p>
            <a:pPr marL="0" lvl="0" indent="0" algn="ctr" rtl="0">
              <a:lnSpc>
                <a:spcPct val="115000"/>
              </a:lnSpc>
              <a:spcBef>
                <a:spcPts val="1200"/>
              </a:spcBef>
              <a:spcAft>
                <a:spcPts val="200"/>
              </a:spcAft>
              <a:buNone/>
            </a:pPr>
            <a:r>
              <a:rPr lang="es-419" sz="3000" b="1">
                <a:solidFill>
                  <a:srgbClr val="000000"/>
                </a:solidFill>
              </a:rPr>
              <a:t>. Pruebas de Compatibilidad (Compatibility Testing)</a:t>
            </a:r>
            <a:endParaRPr sz="3000" b="1">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10"/>
                                        </p:tgtEl>
                                        <p:attrNameLst>
                                          <p:attrName>style.visibility</p:attrName>
                                        </p:attrNameLst>
                                      </p:cBhvr>
                                      <p:to>
                                        <p:strVal val="visible"/>
                                      </p:to>
                                    </p:set>
                                    <p:anim calcmode="lin" valueType="num">
                                      <p:cBhvr additive="base">
                                        <p:cTn id="7" dur="1000"/>
                                        <p:tgtEl>
                                          <p:spTgt spid="210"/>
                                        </p:tgtEl>
                                        <p:attrNameLst>
                                          <p:attrName>ppt_w</p:attrName>
                                        </p:attrNameLst>
                                      </p:cBhvr>
                                      <p:tavLst>
                                        <p:tav tm="0">
                                          <p:val>
                                            <p:strVal val="0"/>
                                          </p:val>
                                        </p:tav>
                                        <p:tav tm="100000">
                                          <p:val>
                                            <p:strVal val="#ppt_w"/>
                                          </p:val>
                                        </p:tav>
                                      </p:tavLst>
                                    </p:anim>
                                    <p:anim calcmode="lin" valueType="num">
                                      <p:cBhvr additive="base">
                                        <p:cTn id="8" dur="1000"/>
                                        <p:tgtEl>
                                          <p:spTgt spid="21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11"/>
                                        </p:tgtEl>
                                        <p:attrNameLst>
                                          <p:attrName>style.visibility</p:attrName>
                                        </p:attrNameLst>
                                      </p:cBhvr>
                                      <p:to>
                                        <p:strVal val="visible"/>
                                      </p:to>
                                    </p:set>
                                    <p:anim calcmode="lin" valueType="num">
                                      <p:cBhvr additive="base">
                                        <p:cTn id="13" dur="1000"/>
                                        <p:tgtEl>
                                          <p:spTgt spid="211"/>
                                        </p:tgtEl>
                                        <p:attrNameLst>
                                          <p:attrName>ppt_w</p:attrName>
                                        </p:attrNameLst>
                                      </p:cBhvr>
                                      <p:tavLst>
                                        <p:tav tm="0">
                                          <p:val>
                                            <p:strVal val="0"/>
                                          </p:val>
                                        </p:tav>
                                        <p:tav tm="100000">
                                          <p:val>
                                            <p:strVal val="#ppt_w"/>
                                          </p:val>
                                        </p:tav>
                                      </p:tavLst>
                                    </p:anim>
                                    <p:anim calcmode="lin" valueType="num">
                                      <p:cBhvr additive="base">
                                        <p:cTn id="14" dur="1000"/>
                                        <p:tgtEl>
                                          <p:spTgt spid="21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7"/>
          <p:cNvSpPr txBox="1">
            <a:spLocks noGrp="1"/>
          </p:cNvSpPr>
          <p:nvPr>
            <p:ph type="title"/>
          </p:nvPr>
        </p:nvSpPr>
        <p:spPr>
          <a:xfrm>
            <a:off x="471900" y="718975"/>
            <a:ext cx="8222100" cy="787500"/>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rmAutofit fontScale="90000"/>
          </a:bodyPr>
          <a:lstStyle/>
          <a:p>
            <a:pPr marL="0" lvl="0" indent="0" algn="ctr" rtl="0">
              <a:lnSpc>
                <a:spcPct val="115000"/>
              </a:lnSpc>
              <a:spcBef>
                <a:spcPts val="1400"/>
              </a:spcBef>
              <a:spcAft>
                <a:spcPts val="400"/>
              </a:spcAft>
              <a:buNone/>
            </a:pPr>
            <a:r>
              <a:rPr lang="es-419" sz="3600" b="1"/>
              <a:t>Plan de Implementación Propuesto</a:t>
            </a:r>
            <a:endParaRPr sz="3600" b="1"/>
          </a:p>
        </p:txBody>
      </p:sp>
      <p:sp>
        <p:nvSpPr>
          <p:cNvPr id="217" name="Google Shape;217;p37"/>
          <p:cNvSpPr txBox="1">
            <a:spLocks noGrp="1"/>
          </p:cNvSpPr>
          <p:nvPr>
            <p:ph type="body" idx="1"/>
          </p:nvPr>
        </p:nvSpPr>
        <p:spPr>
          <a:xfrm>
            <a:off x="471900" y="1919075"/>
            <a:ext cx="8222100" cy="27102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ctr" rtl="0">
              <a:lnSpc>
                <a:spcPct val="115000"/>
              </a:lnSpc>
              <a:spcBef>
                <a:spcPts val="1200"/>
              </a:spcBef>
              <a:spcAft>
                <a:spcPts val="1200"/>
              </a:spcAft>
              <a:buNone/>
            </a:pPr>
            <a:r>
              <a:rPr lang="es-419" sz="2100" b="1">
                <a:solidFill>
                  <a:srgbClr val="000000"/>
                </a:solidFill>
              </a:rPr>
              <a:t>. Adquisición de dominio y servicio de hosting</a:t>
            </a:r>
            <a:br>
              <a:rPr lang="es-419" sz="2100" b="1">
                <a:solidFill>
                  <a:srgbClr val="000000"/>
                </a:solidFill>
              </a:rPr>
            </a:br>
            <a:r>
              <a:rPr lang="es-419" sz="2100" b="1">
                <a:solidFill>
                  <a:srgbClr val="000000"/>
                </a:solidFill>
              </a:rPr>
              <a:t>. Despliegue de la infraestructura backend y frontend</a:t>
            </a:r>
            <a:br>
              <a:rPr lang="es-419" sz="2100" b="1">
                <a:solidFill>
                  <a:srgbClr val="000000"/>
                </a:solidFill>
              </a:rPr>
            </a:br>
            <a:r>
              <a:rPr lang="es-419" sz="2100" b="1">
                <a:solidFill>
                  <a:srgbClr val="000000"/>
                </a:solidFill>
              </a:rPr>
              <a:t>. Pruebas de funcionamiento en el entorno de producción</a:t>
            </a:r>
            <a:br>
              <a:rPr lang="es-419" sz="2100" b="1">
                <a:solidFill>
                  <a:srgbClr val="000000"/>
                </a:solidFill>
              </a:rPr>
            </a:br>
            <a:r>
              <a:rPr lang="es-419" sz="2100" b="1">
                <a:solidFill>
                  <a:srgbClr val="000000"/>
                </a:solidFill>
              </a:rPr>
              <a:t>. Optimización del rendimiento y escalabilidad</a:t>
            </a:r>
            <a:br>
              <a:rPr lang="es-419" sz="2100" b="1">
                <a:solidFill>
                  <a:srgbClr val="000000"/>
                </a:solidFill>
              </a:rPr>
            </a:br>
            <a:r>
              <a:rPr lang="es-419" sz="2100" b="1">
                <a:solidFill>
                  <a:srgbClr val="000000"/>
                </a:solidFill>
              </a:rPr>
              <a:t>. Mantenimiento post-lanzamiento y actualizaciones</a:t>
            </a:r>
            <a:r>
              <a:rPr lang="es-419" sz="1150" b="1">
                <a:solidFill>
                  <a:srgbClr val="000000"/>
                </a:solidFill>
              </a:rPr>
              <a:t/>
            </a:r>
            <a:br>
              <a:rPr lang="es-419" sz="1150" b="1">
                <a:solidFill>
                  <a:srgbClr val="000000"/>
                </a:solidFill>
              </a:rPr>
            </a:br>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16"/>
                                        </p:tgtEl>
                                        <p:attrNameLst>
                                          <p:attrName>style.visibility</p:attrName>
                                        </p:attrNameLst>
                                      </p:cBhvr>
                                      <p:to>
                                        <p:strVal val="visible"/>
                                      </p:to>
                                    </p:set>
                                    <p:anim calcmode="lin" valueType="num">
                                      <p:cBhvr additive="base">
                                        <p:cTn id="7" dur="1000"/>
                                        <p:tgtEl>
                                          <p:spTgt spid="216"/>
                                        </p:tgtEl>
                                        <p:attrNameLst>
                                          <p:attrName>ppt_w</p:attrName>
                                        </p:attrNameLst>
                                      </p:cBhvr>
                                      <p:tavLst>
                                        <p:tav tm="0">
                                          <p:val>
                                            <p:strVal val="0"/>
                                          </p:val>
                                        </p:tav>
                                        <p:tav tm="100000">
                                          <p:val>
                                            <p:strVal val="#ppt_w"/>
                                          </p:val>
                                        </p:tav>
                                      </p:tavLst>
                                    </p:anim>
                                    <p:anim calcmode="lin" valueType="num">
                                      <p:cBhvr additive="base">
                                        <p:cTn id="8" dur="1000"/>
                                        <p:tgtEl>
                                          <p:spTgt spid="216"/>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17"/>
                                        </p:tgtEl>
                                        <p:attrNameLst>
                                          <p:attrName>style.visibility</p:attrName>
                                        </p:attrNameLst>
                                      </p:cBhvr>
                                      <p:to>
                                        <p:strVal val="visible"/>
                                      </p:to>
                                    </p:set>
                                    <p:anim calcmode="lin" valueType="num">
                                      <p:cBhvr additive="base">
                                        <p:cTn id="13" dur="1000"/>
                                        <p:tgtEl>
                                          <p:spTgt spid="217"/>
                                        </p:tgtEl>
                                        <p:attrNameLst>
                                          <p:attrName>ppt_w</p:attrName>
                                        </p:attrNameLst>
                                      </p:cBhvr>
                                      <p:tavLst>
                                        <p:tav tm="0">
                                          <p:val>
                                            <p:strVal val="0"/>
                                          </p:val>
                                        </p:tav>
                                        <p:tav tm="100000">
                                          <p:val>
                                            <p:strVal val="#ppt_w"/>
                                          </p:val>
                                        </p:tav>
                                      </p:tavLst>
                                    </p:anim>
                                    <p:anim calcmode="lin" valueType="num">
                                      <p:cBhvr additive="base">
                                        <p:cTn id="14" dur="1000"/>
                                        <p:tgtEl>
                                          <p:spTgt spid="21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8"/>
          <p:cNvSpPr txBox="1">
            <a:spLocks noGrp="1"/>
          </p:cNvSpPr>
          <p:nvPr>
            <p:ph type="title"/>
          </p:nvPr>
        </p:nvSpPr>
        <p:spPr>
          <a:xfrm>
            <a:off x="471900" y="649175"/>
            <a:ext cx="8222100" cy="857400"/>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rmAutofit fontScale="90000"/>
          </a:bodyPr>
          <a:lstStyle/>
          <a:p>
            <a:pPr marL="0" lvl="0" indent="0" algn="ctr" rtl="0">
              <a:lnSpc>
                <a:spcPct val="115000"/>
              </a:lnSpc>
              <a:spcBef>
                <a:spcPts val="1200"/>
              </a:spcBef>
              <a:spcAft>
                <a:spcPts val="1200"/>
              </a:spcAft>
              <a:buNone/>
            </a:pPr>
            <a:r>
              <a:rPr lang="es-419" sz="3600" b="1"/>
              <a:t>Tipos de Mantenimiento</a:t>
            </a:r>
            <a:endParaRPr sz="3600" b="1"/>
          </a:p>
        </p:txBody>
      </p:sp>
      <p:sp>
        <p:nvSpPr>
          <p:cNvPr id="223" name="Google Shape;223;p38"/>
          <p:cNvSpPr txBox="1">
            <a:spLocks noGrp="1"/>
          </p:cNvSpPr>
          <p:nvPr>
            <p:ph type="body" idx="1"/>
          </p:nvPr>
        </p:nvSpPr>
        <p:spPr>
          <a:xfrm>
            <a:off x="471900" y="1919075"/>
            <a:ext cx="8222100" cy="27102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457200" lvl="0" indent="0" algn="ctr" rtl="0">
              <a:lnSpc>
                <a:spcPct val="115000"/>
              </a:lnSpc>
              <a:spcBef>
                <a:spcPts val="1200"/>
              </a:spcBef>
              <a:spcAft>
                <a:spcPts val="0"/>
              </a:spcAft>
              <a:buNone/>
            </a:pPr>
            <a:r>
              <a:rPr lang="es-419" sz="2400" b="1">
                <a:solidFill>
                  <a:srgbClr val="000000"/>
                </a:solidFill>
              </a:rPr>
              <a:t>. Correctivo</a:t>
            </a:r>
            <a:endParaRPr sz="2400">
              <a:solidFill>
                <a:srgbClr val="000000"/>
              </a:solidFill>
            </a:endParaRPr>
          </a:p>
          <a:p>
            <a:pPr marL="457200" lvl="0" indent="0" algn="ctr" rtl="0">
              <a:lnSpc>
                <a:spcPct val="115000"/>
              </a:lnSpc>
              <a:spcBef>
                <a:spcPts val="1200"/>
              </a:spcBef>
              <a:spcAft>
                <a:spcPts val="0"/>
              </a:spcAft>
              <a:buNone/>
            </a:pPr>
            <a:r>
              <a:rPr lang="es-419" sz="2400" b="1">
                <a:solidFill>
                  <a:srgbClr val="000000"/>
                </a:solidFill>
              </a:rPr>
              <a:t>. Adaptativo</a:t>
            </a:r>
            <a:endParaRPr sz="2400">
              <a:solidFill>
                <a:srgbClr val="000000"/>
              </a:solidFill>
            </a:endParaRPr>
          </a:p>
          <a:p>
            <a:pPr marL="457200" lvl="0" indent="0" algn="ctr" rtl="0">
              <a:lnSpc>
                <a:spcPct val="115000"/>
              </a:lnSpc>
              <a:spcBef>
                <a:spcPts val="1200"/>
              </a:spcBef>
              <a:spcAft>
                <a:spcPts val="0"/>
              </a:spcAft>
              <a:buNone/>
            </a:pPr>
            <a:r>
              <a:rPr lang="es-419" sz="2400" b="1">
                <a:solidFill>
                  <a:srgbClr val="000000"/>
                </a:solidFill>
              </a:rPr>
              <a:t>. Perfectivo</a:t>
            </a:r>
            <a:endParaRPr sz="2400">
              <a:solidFill>
                <a:srgbClr val="000000"/>
              </a:solidFill>
            </a:endParaRPr>
          </a:p>
          <a:p>
            <a:pPr marL="457200" lvl="0" indent="0" algn="ctr" rtl="0">
              <a:lnSpc>
                <a:spcPct val="115000"/>
              </a:lnSpc>
              <a:spcBef>
                <a:spcPts val="1200"/>
              </a:spcBef>
              <a:spcAft>
                <a:spcPts val="1200"/>
              </a:spcAft>
              <a:buNone/>
            </a:pPr>
            <a:r>
              <a:rPr lang="es-419" sz="2400" b="1">
                <a:solidFill>
                  <a:srgbClr val="000000"/>
                </a:solidFill>
              </a:rPr>
              <a:t>. Preventivo</a:t>
            </a:r>
            <a:endParaRPr sz="240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anim calcmode="lin" valueType="num">
                                      <p:cBhvr additive="base">
                                        <p:cTn id="7" dur="1000"/>
                                        <p:tgtEl>
                                          <p:spTgt spid="222"/>
                                        </p:tgtEl>
                                        <p:attrNameLst>
                                          <p:attrName>ppt_w</p:attrName>
                                        </p:attrNameLst>
                                      </p:cBhvr>
                                      <p:tavLst>
                                        <p:tav tm="0">
                                          <p:val>
                                            <p:strVal val="0"/>
                                          </p:val>
                                        </p:tav>
                                        <p:tav tm="100000">
                                          <p:val>
                                            <p:strVal val="#ppt_w"/>
                                          </p:val>
                                        </p:tav>
                                      </p:tavLst>
                                    </p:anim>
                                    <p:anim calcmode="lin" valueType="num">
                                      <p:cBhvr additive="base">
                                        <p:cTn id="8" dur="1000"/>
                                        <p:tgtEl>
                                          <p:spTgt spid="222"/>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23"/>
                                        </p:tgtEl>
                                        <p:attrNameLst>
                                          <p:attrName>style.visibility</p:attrName>
                                        </p:attrNameLst>
                                      </p:cBhvr>
                                      <p:to>
                                        <p:strVal val="visible"/>
                                      </p:to>
                                    </p:set>
                                    <p:anim calcmode="lin" valueType="num">
                                      <p:cBhvr additive="base">
                                        <p:cTn id="13" dur="1000"/>
                                        <p:tgtEl>
                                          <p:spTgt spid="223"/>
                                        </p:tgtEl>
                                        <p:attrNameLst>
                                          <p:attrName>ppt_w</p:attrName>
                                        </p:attrNameLst>
                                      </p:cBhvr>
                                      <p:tavLst>
                                        <p:tav tm="0">
                                          <p:val>
                                            <p:strVal val="0"/>
                                          </p:val>
                                        </p:tav>
                                        <p:tav tm="100000">
                                          <p:val>
                                            <p:strVal val="#ppt_w"/>
                                          </p:val>
                                        </p:tav>
                                      </p:tavLst>
                                    </p:anim>
                                    <p:anim calcmode="lin" valueType="num">
                                      <p:cBhvr additive="base">
                                        <p:cTn id="14" dur="1000"/>
                                        <p:tgtEl>
                                          <p:spTgt spid="223"/>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9"/>
          <p:cNvSpPr txBox="1">
            <a:spLocks noGrp="1"/>
          </p:cNvSpPr>
          <p:nvPr>
            <p:ph type="title"/>
          </p:nvPr>
        </p:nvSpPr>
        <p:spPr>
          <a:xfrm>
            <a:off x="471900" y="738725"/>
            <a:ext cx="8222100" cy="767700"/>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rmAutofit/>
          </a:bodyPr>
          <a:lstStyle/>
          <a:p>
            <a:pPr marL="0" lvl="0" indent="0" algn="ctr" rtl="0">
              <a:spcBef>
                <a:spcPts val="0"/>
              </a:spcBef>
              <a:spcAft>
                <a:spcPts val="0"/>
              </a:spcAft>
              <a:buNone/>
            </a:pPr>
            <a:r>
              <a:rPr lang="es-419" sz="3600" b="1"/>
              <a:t>Conclusión</a:t>
            </a:r>
            <a:endParaRPr sz="3600" b="1"/>
          </a:p>
        </p:txBody>
      </p:sp>
      <p:sp>
        <p:nvSpPr>
          <p:cNvPr id="229" name="Google Shape;229;p39"/>
          <p:cNvSpPr txBox="1">
            <a:spLocks noGrp="1"/>
          </p:cNvSpPr>
          <p:nvPr>
            <p:ph type="body" idx="1"/>
          </p:nvPr>
        </p:nvSpPr>
        <p:spPr>
          <a:xfrm>
            <a:off x="471900" y="1919075"/>
            <a:ext cx="8222100" cy="27102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457200" lvl="0" indent="0" algn="ctr" rtl="0">
              <a:lnSpc>
                <a:spcPct val="115000"/>
              </a:lnSpc>
              <a:spcBef>
                <a:spcPts val="1200"/>
              </a:spcBef>
              <a:spcAft>
                <a:spcPts val="1200"/>
              </a:spcAft>
              <a:buNone/>
            </a:pPr>
            <a:r>
              <a:rPr lang="es-419" sz="1400" u="sng">
                <a:solidFill>
                  <a:srgbClr val="000000"/>
                </a:solidFill>
              </a:rPr>
              <a:t>Diagnóstico: Logros y Dificultades</a:t>
            </a:r>
            <a:r>
              <a:rPr lang="es-419" sz="1400">
                <a:solidFill>
                  <a:srgbClr val="000000"/>
                </a:solidFill>
              </a:rPr>
              <a:t/>
            </a:r>
            <a:br>
              <a:rPr lang="es-419" sz="1400">
                <a:solidFill>
                  <a:srgbClr val="000000"/>
                </a:solidFill>
              </a:rPr>
            </a:br>
            <a:r>
              <a:rPr lang="es-419" sz="1400">
                <a:solidFill>
                  <a:srgbClr val="000000"/>
                </a:solidFill>
              </a:rPr>
              <a:t/>
            </a:r>
            <a:br>
              <a:rPr lang="es-419" sz="1400">
                <a:solidFill>
                  <a:srgbClr val="000000"/>
                </a:solidFill>
              </a:rPr>
            </a:br>
            <a:r>
              <a:rPr lang="es-419" sz="1400">
                <a:solidFill>
                  <a:srgbClr val="000000"/>
                </a:solidFill>
              </a:rPr>
              <a:t>El desarrollo del proyecto permitió implementar con éxito un frontend interactivo en React y un backend funcional con Node.js y Express, utilizando MongoDB para el almacenamiento. Se integró un modelo generativo de imágenes mediante Hugging Face, alternativa elegida frente a OpenAI por su accesibilidad gratuita. Uno de los mayores desafíos fue aprender y aplicar por primera vez herramientas como Render, Vercel, MongoDB y Hugging Face. A pesar de las dificultades iniciales, se logró cumplir con los objetivos planteados y demostrar la viabilidad del sistema.</a:t>
            </a:r>
            <a:endParaRPr sz="1400">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anim calcmode="lin" valueType="num">
                                      <p:cBhvr additive="base">
                                        <p:cTn id="7" dur="1000"/>
                                        <p:tgtEl>
                                          <p:spTgt spid="228"/>
                                        </p:tgtEl>
                                        <p:attrNameLst>
                                          <p:attrName>ppt_w</p:attrName>
                                        </p:attrNameLst>
                                      </p:cBhvr>
                                      <p:tavLst>
                                        <p:tav tm="0">
                                          <p:val>
                                            <p:strVal val="0"/>
                                          </p:val>
                                        </p:tav>
                                        <p:tav tm="100000">
                                          <p:val>
                                            <p:strVal val="#ppt_w"/>
                                          </p:val>
                                        </p:tav>
                                      </p:tavLst>
                                    </p:anim>
                                    <p:anim calcmode="lin" valueType="num">
                                      <p:cBhvr additive="base">
                                        <p:cTn id="8" dur="1000"/>
                                        <p:tgtEl>
                                          <p:spTgt spid="228"/>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29"/>
                                        </p:tgtEl>
                                        <p:attrNameLst>
                                          <p:attrName>style.visibility</p:attrName>
                                        </p:attrNameLst>
                                      </p:cBhvr>
                                      <p:to>
                                        <p:strVal val="visible"/>
                                      </p:to>
                                    </p:set>
                                    <p:anim calcmode="lin" valueType="num">
                                      <p:cBhvr additive="base">
                                        <p:cTn id="13" dur="1000"/>
                                        <p:tgtEl>
                                          <p:spTgt spid="229"/>
                                        </p:tgtEl>
                                        <p:attrNameLst>
                                          <p:attrName>ppt_w</p:attrName>
                                        </p:attrNameLst>
                                      </p:cBhvr>
                                      <p:tavLst>
                                        <p:tav tm="0">
                                          <p:val>
                                            <p:strVal val="0"/>
                                          </p:val>
                                        </p:tav>
                                        <p:tav tm="100000">
                                          <p:val>
                                            <p:strVal val="#ppt_w"/>
                                          </p:val>
                                        </p:tav>
                                      </p:tavLst>
                                    </p:anim>
                                    <p:anim calcmode="lin" valueType="num">
                                      <p:cBhvr additive="base">
                                        <p:cTn id="14" dur="1000"/>
                                        <p:tgtEl>
                                          <p:spTgt spid="22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0"/>
          <p:cNvSpPr txBox="1">
            <a:spLocks noGrp="1"/>
          </p:cNvSpPr>
          <p:nvPr>
            <p:ph type="title"/>
          </p:nvPr>
        </p:nvSpPr>
        <p:spPr>
          <a:xfrm>
            <a:off x="471900" y="117987"/>
            <a:ext cx="8222100" cy="1388463"/>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lnSpc>
                <a:spcPct val="115000"/>
              </a:lnSpc>
              <a:spcBef>
                <a:spcPts val="2400"/>
              </a:spcBef>
              <a:spcAft>
                <a:spcPts val="600"/>
              </a:spcAft>
              <a:buNone/>
            </a:pPr>
            <a:r>
              <a:rPr lang="es-419" sz="3600" b="1" dirty="0"/>
              <a:t>Recomendaciones: Proyecciones y Oportunidades</a:t>
            </a:r>
            <a:endParaRPr sz="3600" b="1"/>
          </a:p>
        </p:txBody>
      </p:sp>
      <p:sp>
        <p:nvSpPr>
          <p:cNvPr id="235" name="Google Shape;235;p40"/>
          <p:cNvSpPr txBox="1">
            <a:spLocks noGrp="1"/>
          </p:cNvSpPr>
          <p:nvPr>
            <p:ph type="body" idx="1"/>
          </p:nvPr>
        </p:nvSpPr>
        <p:spPr>
          <a:xfrm>
            <a:off x="471900" y="1848465"/>
            <a:ext cx="8222100" cy="315221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s-419" dirty="0">
                <a:solidFill>
                  <a:srgbClr val="000000"/>
                </a:solidFill>
                <a:latin typeface="Arial"/>
                <a:ea typeface="Arial"/>
                <a:cs typeface="Arial"/>
                <a:sym typeface="Arial"/>
              </a:rPr>
              <a:t>● </a:t>
            </a:r>
            <a:r>
              <a:rPr lang="es-419" b="1" dirty="0">
                <a:solidFill>
                  <a:srgbClr val="000000"/>
                </a:solidFill>
                <a:latin typeface="Arial"/>
                <a:ea typeface="Arial"/>
                <a:cs typeface="Arial"/>
                <a:sym typeface="Arial"/>
              </a:rPr>
              <a:t>Optimización del Rendimiento:</a:t>
            </a:r>
            <a:r>
              <a:rPr lang="es-419" dirty="0">
                <a:solidFill>
                  <a:srgbClr val="000000"/>
                </a:solidFill>
                <a:latin typeface="Arial"/>
                <a:ea typeface="Arial"/>
                <a:cs typeface="Arial"/>
                <a:sym typeface="Arial"/>
              </a:rPr>
              <a:t> Mejorar la eficiencia computacional mediante modelos más livianos y uso de servicios en la nube.</a:t>
            </a:r>
            <a:endParaRPr>
              <a:solidFill>
                <a:srgbClr val="000000"/>
              </a:solidFill>
              <a:latin typeface="Arial"/>
              <a:ea typeface="Arial"/>
              <a:cs typeface="Arial"/>
              <a:sym typeface="Arial"/>
            </a:endParaRPr>
          </a:p>
          <a:p>
            <a:pPr marL="0" lvl="0" indent="0" algn="ctr" rtl="0">
              <a:spcBef>
                <a:spcPts val="1200"/>
              </a:spcBef>
              <a:spcAft>
                <a:spcPts val="0"/>
              </a:spcAft>
              <a:buNone/>
            </a:pPr>
            <a:r>
              <a:rPr lang="es-419" dirty="0">
                <a:solidFill>
                  <a:srgbClr val="000000"/>
                </a:solidFill>
                <a:latin typeface="Arial"/>
                <a:ea typeface="Arial"/>
                <a:cs typeface="Arial"/>
                <a:sym typeface="Arial"/>
              </a:rPr>
              <a:t>● </a:t>
            </a:r>
            <a:r>
              <a:rPr lang="es-419" b="1" dirty="0">
                <a:solidFill>
                  <a:srgbClr val="000000"/>
                </a:solidFill>
                <a:latin typeface="Arial"/>
                <a:ea typeface="Arial"/>
                <a:cs typeface="Arial"/>
                <a:sym typeface="Arial"/>
              </a:rPr>
              <a:t>Desarrollo de Modelos Propios:</a:t>
            </a:r>
            <a:r>
              <a:rPr lang="es-419" dirty="0">
                <a:solidFill>
                  <a:srgbClr val="000000"/>
                </a:solidFill>
                <a:latin typeface="Arial"/>
                <a:ea typeface="Arial"/>
                <a:cs typeface="Arial"/>
                <a:sym typeface="Arial"/>
              </a:rPr>
              <a:t> Entrenar un modelo generativo propio que se ajuste a las necesidades específicas del proyecto.</a:t>
            </a:r>
            <a:endParaRPr>
              <a:solidFill>
                <a:srgbClr val="000000"/>
              </a:solidFill>
              <a:latin typeface="Arial"/>
              <a:ea typeface="Arial"/>
              <a:cs typeface="Arial"/>
              <a:sym typeface="Arial"/>
            </a:endParaRPr>
          </a:p>
          <a:p>
            <a:pPr marL="0" lvl="0" indent="0" algn="ctr" rtl="0">
              <a:spcBef>
                <a:spcPts val="1200"/>
              </a:spcBef>
              <a:spcAft>
                <a:spcPts val="0"/>
              </a:spcAft>
              <a:buNone/>
            </a:pPr>
            <a:r>
              <a:rPr lang="es-419" dirty="0">
                <a:solidFill>
                  <a:srgbClr val="000000"/>
                </a:solidFill>
                <a:latin typeface="Arial"/>
                <a:ea typeface="Arial"/>
                <a:cs typeface="Arial"/>
                <a:sym typeface="Arial"/>
              </a:rPr>
              <a:t>● </a:t>
            </a:r>
            <a:r>
              <a:rPr lang="es-419" b="1" dirty="0">
                <a:solidFill>
                  <a:srgbClr val="000000"/>
                </a:solidFill>
                <a:latin typeface="Arial"/>
                <a:ea typeface="Arial"/>
                <a:cs typeface="Arial"/>
                <a:sym typeface="Arial"/>
              </a:rPr>
              <a:t>Integración de IA Responsable:</a:t>
            </a:r>
            <a:r>
              <a:rPr lang="es-419" dirty="0">
                <a:solidFill>
                  <a:srgbClr val="000000"/>
                </a:solidFill>
                <a:latin typeface="Arial"/>
                <a:ea typeface="Arial"/>
                <a:cs typeface="Arial"/>
                <a:sym typeface="Arial"/>
              </a:rPr>
              <a:t> Incorporar filtros para evitar contenido inapropiado y fomentar un uso ético de la IA.</a:t>
            </a:r>
            <a:endParaRPr>
              <a:solidFill>
                <a:srgbClr val="000000"/>
              </a:solidFill>
              <a:latin typeface="Arial"/>
              <a:ea typeface="Arial"/>
              <a:cs typeface="Arial"/>
              <a:sym typeface="Arial"/>
            </a:endParaRPr>
          </a:p>
          <a:p>
            <a:pPr marL="0" lvl="0" indent="0" algn="ctr" rtl="0">
              <a:spcBef>
                <a:spcPts val="1200"/>
              </a:spcBef>
              <a:spcAft>
                <a:spcPts val="1200"/>
              </a:spcAft>
              <a:buNone/>
            </a:pPr>
            <a:r>
              <a:rPr lang="es-419" dirty="0">
                <a:solidFill>
                  <a:srgbClr val="000000"/>
                </a:solidFill>
                <a:latin typeface="Arial"/>
                <a:ea typeface="Arial"/>
                <a:cs typeface="Arial"/>
                <a:sym typeface="Arial"/>
              </a:rPr>
              <a:t>● </a:t>
            </a:r>
            <a:r>
              <a:rPr lang="es-419" b="1" dirty="0">
                <a:solidFill>
                  <a:srgbClr val="000000"/>
                </a:solidFill>
                <a:latin typeface="Arial"/>
                <a:ea typeface="Arial"/>
                <a:cs typeface="Arial"/>
                <a:sym typeface="Arial"/>
              </a:rPr>
              <a:t>Escalabilidad y Expansión:</a:t>
            </a:r>
            <a:r>
              <a:rPr lang="es-419" dirty="0">
                <a:solidFill>
                  <a:srgbClr val="000000"/>
                </a:solidFill>
                <a:latin typeface="Arial"/>
                <a:ea typeface="Arial"/>
                <a:cs typeface="Arial"/>
                <a:sym typeface="Arial"/>
              </a:rPr>
              <a:t> Considerar monetización, integración con otras plataformas y ampliación de funcionalidades para usos profesionales.</a:t>
            </a:r>
            <a:endParaRPr>
              <a:solidFill>
                <a:srgbClr val="00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34"/>
                                        </p:tgtEl>
                                        <p:attrNameLst>
                                          <p:attrName>style.visibility</p:attrName>
                                        </p:attrNameLst>
                                      </p:cBhvr>
                                      <p:to>
                                        <p:strVal val="visible"/>
                                      </p:to>
                                    </p:set>
                                    <p:anim calcmode="lin" valueType="num">
                                      <p:cBhvr additive="base">
                                        <p:cTn id="7" dur="1000"/>
                                        <p:tgtEl>
                                          <p:spTgt spid="234"/>
                                        </p:tgtEl>
                                        <p:attrNameLst>
                                          <p:attrName>ppt_w</p:attrName>
                                        </p:attrNameLst>
                                      </p:cBhvr>
                                      <p:tavLst>
                                        <p:tav tm="0">
                                          <p:val>
                                            <p:strVal val="0"/>
                                          </p:val>
                                        </p:tav>
                                        <p:tav tm="100000">
                                          <p:val>
                                            <p:strVal val="#ppt_w"/>
                                          </p:val>
                                        </p:tav>
                                      </p:tavLst>
                                    </p:anim>
                                    <p:anim calcmode="lin" valueType="num">
                                      <p:cBhvr additive="base">
                                        <p:cTn id="8" dur="1000"/>
                                        <p:tgtEl>
                                          <p:spTgt spid="234"/>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35"/>
                                        </p:tgtEl>
                                        <p:attrNameLst>
                                          <p:attrName>style.visibility</p:attrName>
                                        </p:attrNameLst>
                                      </p:cBhvr>
                                      <p:to>
                                        <p:strVal val="visible"/>
                                      </p:to>
                                    </p:set>
                                    <p:anim calcmode="lin" valueType="num">
                                      <p:cBhvr additive="base">
                                        <p:cTn id="13" dur="1000"/>
                                        <p:tgtEl>
                                          <p:spTgt spid="235"/>
                                        </p:tgtEl>
                                        <p:attrNameLst>
                                          <p:attrName>ppt_w</p:attrName>
                                        </p:attrNameLst>
                                      </p:cBhvr>
                                      <p:tavLst>
                                        <p:tav tm="0">
                                          <p:val>
                                            <p:strVal val="0"/>
                                          </p:val>
                                        </p:tav>
                                        <p:tav tm="100000">
                                          <p:val>
                                            <p:strVal val="#ppt_w"/>
                                          </p:val>
                                        </p:tav>
                                      </p:tavLst>
                                    </p:anim>
                                    <p:anim calcmode="lin" valueType="num">
                                      <p:cBhvr additive="base">
                                        <p:cTn id="14" dur="1000"/>
                                        <p:tgtEl>
                                          <p:spTgt spid="235"/>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41"/>
          <p:cNvSpPr txBox="1">
            <a:spLocks noGrp="1"/>
          </p:cNvSpPr>
          <p:nvPr>
            <p:ph type="title"/>
          </p:nvPr>
        </p:nvSpPr>
        <p:spPr>
          <a:xfrm>
            <a:off x="471900" y="736425"/>
            <a:ext cx="8222100" cy="770100"/>
          </a:xfrm>
          <a:prstGeom prst="rect">
            <a:avLst/>
          </a:prstGeom>
          <a:ln w="28575" cap="flat" cmpd="sng">
            <a:solidFill>
              <a:schemeClr val="lt1"/>
            </a:solidFill>
            <a:prstDash val="solid"/>
            <a:round/>
            <a:headEnd type="none" w="sm" len="sm"/>
            <a:tailEnd type="none" w="sm" len="sm"/>
          </a:ln>
        </p:spPr>
        <p:txBody>
          <a:bodyPr spcFirstLastPara="1" wrap="square" lIns="91425" tIns="91425" rIns="91425" bIns="91425" anchor="b" anchorCtr="0">
            <a:noAutofit/>
          </a:bodyPr>
          <a:lstStyle/>
          <a:p>
            <a:pPr marL="0" lvl="0" indent="0" algn="ctr" rtl="0">
              <a:spcBef>
                <a:spcPts val="0"/>
              </a:spcBef>
              <a:spcAft>
                <a:spcPts val="0"/>
              </a:spcAft>
              <a:buNone/>
            </a:pPr>
            <a:r>
              <a:rPr lang="es-419" sz="3600" b="1"/>
              <a:t>Links del proyecto</a:t>
            </a:r>
            <a:endParaRPr sz="3600" b="1"/>
          </a:p>
        </p:txBody>
      </p:sp>
      <p:sp>
        <p:nvSpPr>
          <p:cNvPr id="241" name="Google Shape;241;p41"/>
          <p:cNvSpPr txBox="1">
            <a:spLocks noGrp="1"/>
          </p:cNvSpPr>
          <p:nvPr>
            <p:ph type="body" idx="1"/>
          </p:nvPr>
        </p:nvSpPr>
        <p:spPr>
          <a:xfrm>
            <a:off x="471900" y="1919075"/>
            <a:ext cx="8222100" cy="2839738"/>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rmAutofit fontScale="77500" lnSpcReduction="20000"/>
          </a:bodyPr>
          <a:lstStyle/>
          <a:p>
            <a:pPr marL="0" lvl="0" indent="0" algn="l" rtl="0">
              <a:spcBef>
                <a:spcPts val="1200"/>
              </a:spcBef>
              <a:spcAft>
                <a:spcPts val="0"/>
              </a:spcAft>
              <a:buNone/>
            </a:pPr>
            <a:endParaRPr sz="1150">
              <a:solidFill>
                <a:srgbClr val="000000"/>
              </a:solidFill>
            </a:endParaRPr>
          </a:p>
          <a:p>
            <a:pPr marL="0" lvl="0" indent="0" algn="ctr" rtl="0">
              <a:spcBef>
                <a:spcPts val="1200"/>
              </a:spcBef>
              <a:spcAft>
                <a:spcPts val="0"/>
              </a:spcAft>
              <a:buNone/>
            </a:pPr>
            <a:endParaRPr sz="3000">
              <a:solidFill>
                <a:srgbClr val="000000"/>
              </a:solidFill>
            </a:endParaRPr>
          </a:p>
          <a:p>
            <a:pPr marL="0" lvl="0" indent="0" algn="ctr" rtl="0">
              <a:spcBef>
                <a:spcPts val="1200"/>
              </a:spcBef>
              <a:spcAft>
                <a:spcPts val="0"/>
              </a:spcAft>
              <a:buNone/>
            </a:pPr>
            <a:r>
              <a:rPr lang="es-419" sz="3000" dirty="0">
                <a:solidFill>
                  <a:srgbClr val="000000"/>
                </a:solidFill>
              </a:rPr>
              <a:t>Repositorio de Github: </a:t>
            </a:r>
            <a:r>
              <a:rPr lang="es-419" sz="3000" u="sng" dirty="0">
                <a:solidFill>
                  <a:srgbClr val="1155CC"/>
                </a:solidFill>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https://github.com/MisterHunter666/Hugging-Face</a:t>
            </a:r>
            <a:endParaRPr sz="3000">
              <a:solidFill>
                <a:srgbClr val="000000"/>
              </a:solidFill>
            </a:endParaRPr>
          </a:p>
          <a:p>
            <a:pPr marL="0" lvl="0" indent="0" algn="ctr" rtl="0">
              <a:spcBef>
                <a:spcPts val="1200"/>
              </a:spcBef>
              <a:spcAft>
                <a:spcPts val="0"/>
              </a:spcAft>
              <a:buNone/>
            </a:pPr>
            <a:endParaRPr sz="3000">
              <a:solidFill>
                <a:srgbClr val="000000"/>
              </a:solidFill>
            </a:endParaRPr>
          </a:p>
          <a:p>
            <a:pPr marL="0" lvl="0" indent="0" algn="ctr" rtl="0">
              <a:spcBef>
                <a:spcPts val="1200"/>
              </a:spcBef>
              <a:spcAft>
                <a:spcPts val="0"/>
              </a:spcAft>
              <a:buNone/>
            </a:pPr>
            <a:r>
              <a:rPr lang="es-419" sz="3000" dirty="0">
                <a:solidFill>
                  <a:srgbClr val="000000"/>
                </a:solidFill>
              </a:rPr>
              <a:t>Hosting: </a:t>
            </a:r>
            <a:r>
              <a:rPr lang="es-419" sz="3000" dirty="0">
                <a:solidFill>
                  <a:srgbClr val="1155CC"/>
                </a:solidFill>
                <a:highlight>
                  <a:srgbClr val="FFFFFF"/>
                </a:highlight>
                <a:uFill>
                  <a:noFill/>
                </a:uFill>
                <a:latin typeface="Arial"/>
                <a:ea typeface="Arial"/>
                <a:cs typeface="Arial"/>
                <a:sym typeface="Arial"/>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hugging-face-ten-kappa.vercel.app</a:t>
            </a:r>
            <a:endParaRPr sz="3000" b="1">
              <a:solidFill>
                <a:srgbClr val="000000"/>
              </a:solidFill>
            </a:endParaRPr>
          </a:p>
          <a:p>
            <a:pPr marL="0" lvl="0" indent="0" algn="l" rtl="0">
              <a:spcBef>
                <a:spcPts val="1200"/>
              </a:spcBef>
              <a:spcAft>
                <a:spcPts val="1200"/>
              </a:spcAft>
              <a:buNone/>
            </a:pPr>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anim calcmode="lin" valueType="num">
                                      <p:cBhvr additive="base">
                                        <p:cTn id="7" dur="1000"/>
                                        <p:tgtEl>
                                          <p:spTgt spid="240"/>
                                        </p:tgtEl>
                                        <p:attrNameLst>
                                          <p:attrName>ppt_w</p:attrName>
                                        </p:attrNameLst>
                                      </p:cBhvr>
                                      <p:tavLst>
                                        <p:tav tm="0">
                                          <p:val>
                                            <p:strVal val="0"/>
                                          </p:val>
                                        </p:tav>
                                        <p:tav tm="100000">
                                          <p:val>
                                            <p:strVal val="#ppt_w"/>
                                          </p:val>
                                        </p:tav>
                                      </p:tavLst>
                                    </p:anim>
                                    <p:anim calcmode="lin" valueType="num">
                                      <p:cBhvr additive="base">
                                        <p:cTn id="8" dur="1000"/>
                                        <p:tgtEl>
                                          <p:spTgt spid="240"/>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41"/>
                                        </p:tgtEl>
                                        <p:attrNameLst>
                                          <p:attrName>style.visibility</p:attrName>
                                        </p:attrNameLst>
                                      </p:cBhvr>
                                      <p:to>
                                        <p:strVal val="visible"/>
                                      </p:to>
                                    </p:set>
                                    <p:anim calcmode="lin" valueType="num">
                                      <p:cBhvr additive="base">
                                        <p:cTn id="13" dur="1000"/>
                                        <p:tgtEl>
                                          <p:spTgt spid="241"/>
                                        </p:tgtEl>
                                        <p:attrNameLst>
                                          <p:attrName>ppt_w</p:attrName>
                                        </p:attrNameLst>
                                      </p:cBhvr>
                                      <p:tavLst>
                                        <p:tav tm="0">
                                          <p:val>
                                            <p:strVal val="0"/>
                                          </p:val>
                                        </p:tav>
                                        <p:tav tm="100000">
                                          <p:val>
                                            <p:strVal val="#ppt_w"/>
                                          </p:val>
                                        </p:tav>
                                      </p:tavLst>
                                    </p:anim>
                                    <p:anim calcmode="lin" valueType="num">
                                      <p:cBhvr additive="base">
                                        <p:cTn id="14" dur="1000"/>
                                        <p:tgtEl>
                                          <p:spTgt spid="24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5"/>
        <p:cNvGrpSpPr/>
        <p:nvPr/>
      </p:nvGrpSpPr>
      <p:grpSpPr>
        <a:xfrm>
          <a:off x="0" y="0"/>
          <a:ext cx="0" cy="0"/>
          <a:chOff x="0" y="0"/>
          <a:chExt cx="0" cy="0"/>
        </a:xfrm>
      </p:grpSpPr>
      <p:sp>
        <p:nvSpPr>
          <p:cNvPr id="246" name="Google Shape;246;p42"/>
          <p:cNvSpPr txBox="1">
            <a:spLocks noGrp="1"/>
          </p:cNvSpPr>
          <p:nvPr>
            <p:ph type="body" idx="1"/>
          </p:nvPr>
        </p:nvSpPr>
        <p:spPr>
          <a:xfrm>
            <a:off x="471900" y="1919075"/>
            <a:ext cx="8222100" cy="2710200"/>
          </a:xfrm>
          <a:prstGeom prst="rect">
            <a:avLst/>
          </a:prstGeom>
          <a:ln w="28575" cap="flat" cmpd="sng">
            <a:solidFill>
              <a:schemeClr val="dk1"/>
            </a:solidFill>
            <a:prstDash val="solid"/>
            <a:round/>
            <a:headEnd type="none" w="sm" len="sm"/>
            <a:tailEnd type="none" w="sm" len="sm"/>
          </a:ln>
        </p:spPr>
        <p:txBody>
          <a:bodyPr spcFirstLastPara="1" wrap="square" lIns="91425" tIns="91425" rIns="91425" bIns="91425" anchor="t" anchorCtr="0">
            <a:normAutofit/>
          </a:bodyPr>
          <a:lstStyle/>
          <a:p>
            <a:pPr marL="0" lvl="0" indent="0" algn="l" rtl="0">
              <a:spcBef>
                <a:spcPts val="0"/>
              </a:spcBef>
              <a:spcAft>
                <a:spcPts val="0"/>
              </a:spcAft>
              <a:buNone/>
            </a:pPr>
            <a:endParaRPr sz="6000"/>
          </a:p>
          <a:p>
            <a:pPr marL="0" lvl="0" indent="0" algn="ctr" rtl="0">
              <a:spcBef>
                <a:spcPts val="1200"/>
              </a:spcBef>
              <a:spcAft>
                <a:spcPts val="1200"/>
              </a:spcAft>
              <a:buNone/>
            </a:pPr>
            <a:r>
              <a:rPr lang="es-419" sz="6000" u="sng"/>
              <a:t>Muchas gracias</a:t>
            </a:r>
            <a:endParaRPr sz="6000" u="sng"/>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246"/>
                                        </p:tgtEl>
                                        <p:attrNameLst>
                                          <p:attrName>style.visibility</p:attrName>
                                        </p:attrNameLst>
                                      </p:cBhvr>
                                      <p:to>
                                        <p:strVal val="visible"/>
                                      </p:to>
                                    </p:set>
                                    <p:anim calcmode="lin" valueType="num">
                                      <p:cBhvr additive="base">
                                        <p:cTn id="7" dur="1000"/>
                                        <p:tgtEl>
                                          <p:spTgt spid="246"/>
                                        </p:tgtEl>
                                        <p:attrNameLst>
                                          <p:attrName>ppt_w</p:attrName>
                                        </p:attrNameLst>
                                      </p:cBhvr>
                                      <p:tavLst>
                                        <p:tav tm="0">
                                          <p:val>
                                            <p:strVal val="0"/>
                                          </p:val>
                                        </p:tav>
                                        <p:tav tm="100000">
                                          <p:val>
                                            <p:strVal val="#ppt_w"/>
                                          </p:val>
                                        </p:tav>
                                      </p:tavLst>
                                    </p:anim>
                                    <p:anim calcmode="lin" valueType="num">
                                      <p:cBhvr additive="base">
                                        <p:cTn id="8" dur="1000"/>
                                        <p:tgtEl>
                                          <p:spTgt spid="24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1022</Words>
  <PresentationFormat>Presentación en pantalla (16:9)</PresentationFormat>
  <Paragraphs>114</Paragraphs>
  <Slides>30</Slides>
  <Notes>30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30</vt:i4>
      </vt:variant>
    </vt:vector>
  </HeadingPairs>
  <TitlesOfParts>
    <vt:vector size="34" baseType="lpstr">
      <vt:lpstr>Arial</vt:lpstr>
      <vt:lpstr>Roboto</vt:lpstr>
      <vt:lpstr>Roboto Mono</vt:lpstr>
      <vt:lpstr>Material</vt:lpstr>
      <vt:lpstr>      Presentación </vt:lpstr>
      <vt:lpstr>Marco Teórico-conceptual</vt:lpstr>
      <vt:lpstr>Inteligencia Artificial: Origen y Evolución</vt:lpstr>
      <vt:lpstr>Inteligencia Artificial Generativa</vt:lpstr>
      <vt:lpstr>Arquitectura MERN: Origen y Necesidad</vt:lpstr>
      <vt:lpstr>Hugging Face: Plataforma de Código Abierto</vt:lpstr>
      <vt:lpstr>Fundamentación Tecnológica</vt:lpstr>
      <vt:lpstr> Fundamentación Práctica y Social</vt:lpstr>
      <vt:lpstr>Encuadre Legal</vt:lpstr>
      <vt:lpstr>Desarrollo</vt:lpstr>
      <vt:lpstr>Descripción de la metodología de trabajo</vt:lpstr>
      <vt:lpstr>Documentación oficial</vt:lpstr>
      <vt:lpstr>Tecnologías y herramientas que se utilizaron en el desarrollo</vt:lpstr>
      <vt:lpstr>El proceso de despliegue (deploy) del proyecto</vt:lpstr>
      <vt:lpstr>Tarea: ampliar actividades realizadas</vt:lpstr>
      <vt:lpstr>Subsistema de Autenticación y Gestión de Usuarios</vt:lpstr>
      <vt:lpstr>Subsistema de Interfaz de Usuario (Frontend)</vt:lpstr>
      <vt:lpstr>Subsistema de API y Backend</vt:lpstr>
      <vt:lpstr>Subsistema de Generación de Imágenes (IA)</vt:lpstr>
      <vt:lpstr>Subsistema de Base de Datos (MongoDB)</vt:lpstr>
      <vt:lpstr>Subsistema de Almacenamiento de Imágenes (Cloudinary)</vt:lpstr>
      <vt:lpstr>Buscador de imágenes (del botón “Hugging Face”)</vt:lpstr>
      <vt:lpstr>Generador de imágenes (del botón “Crear”)</vt:lpstr>
      <vt:lpstr>Tipos de Pruebas</vt:lpstr>
      <vt:lpstr>Plan de Implementación Propuesto</vt:lpstr>
      <vt:lpstr>Tipos de Mantenimiento</vt:lpstr>
      <vt:lpstr>Conclusión</vt:lpstr>
      <vt:lpstr>Recomendaciones: Proyecciones y Oportunidades</vt:lpstr>
      <vt:lpstr>Links del proyecto</vt:lpstr>
      <vt:lpstr>Diapositiva 30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dc:title>
  <dc:creator>Julian</dc:creator>
  <cp:lastModifiedBy>Julian</cp:lastModifiedBy>
  <cp:revision>3</cp:revision>
  <dcterms:modified xsi:type="dcterms:W3CDTF">2025-06-30T22:25:18Z</dcterms:modified>
</cp:coreProperties>
</file>